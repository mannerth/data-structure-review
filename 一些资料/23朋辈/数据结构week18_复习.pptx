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</p:sldMasterIdLst>
  <p:notesMasterIdLst>
    <p:notesMasterId r:id="rId5"/>
  </p:notesMasterIdLst>
  <p:sldIdLst>
    <p:sldId id="2519" r:id="rId4"/>
    <p:sldId id="2872" r:id="rId6"/>
    <p:sldId id="2851" r:id="rId7"/>
    <p:sldId id="2869" r:id="rId8"/>
    <p:sldId id="2870" r:id="rId9"/>
    <p:sldId id="2598" r:id="rId10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0" userDrawn="1">
          <p15:clr>
            <a:srgbClr val="A4A3A4"/>
          </p15:clr>
        </p15:guide>
        <p15:guide id="2" pos="389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yuh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313B"/>
    <a:srgbClr val="C82C41"/>
    <a:srgbClr val="92888B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849" autoAdjust="0"/>
  </p:normalViewPr>
  <p:slideViewPr>
    <p:cSldViewPr snapToGrid="0" showGuides="1">
      <p:cViewPr>
        <p:scale>
          <a:sx n="66" d="100"/>
          <a:sy n="66" d="100"/>
        </p:scale>
        <p:origin x="-2274" y="-966"/>
      </p:cViewPr>
      <p:guideLst>
        <p:guide orient="horz" pos="2070"/>
        <p:guide pos="389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gs" Target="tags/tag36.xml"/><Relationship Id="rId14" Type="http://schemas.openxmlformats.org/officeDocument/2006/relationships/commentAuthors" Target="commentAuthors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B46CDA-9961-4B62-8364-C815A63D6A3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D65BCF-036B-4021-8F83-8402EE66839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D65BCF-036B-4021-8F83-8402EE66839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moban/" TargetMode="Externa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>
        <p14:window dir="vert"/>
      </p:transition>
    </mc:Choice>
    <mc:Fallback>
      <p:transition spd="slow" advClick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>
        <p14:window dir="vert"/>
      </p:transition>
    </mc:Choice>
    <mc:Fallback>
      <p:transition spd="slow" advClick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>
        <p14:window dir="vert"/>
      </p:transition>
    </mc:Choice>
    <mc:Fallback>
      <p:transition spd="slow" advClick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37E8C-BD17-4D0C-8C92-9D8FF8BCB4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B059A-22F8-4BA4-89F4-353E6AE4D4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>
        <p14:window dir="vert"/>
      </p:transition>
    </mc:Choice>
    <mc:Fallback>
      <p:transition spd="slow" advClick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37E8C-BD17-4D0C-8C92-9D8FF8BCB4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B059A-22F8-4BA4-89F4-353E6AE4D4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>
        <p14:window dir="vert"/>
      </p:transition>
    </mc:Choice>
    <mc:Fallback>
      <p:transition spd="slow" advClick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37E8C-BD17-4D0C-8C92-9D8FF8BCB4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B059A-22F8-4BA4-89F4-353E6AE4D4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>
        <p14:window dir="vert"/>
      </p:transition>
    </mc:Choice>
    <mc:Fallback>
      <p:transition spd="slow" advClick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37E8C-BD17-4D0C-8C92-9D8FF8BCB4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B059A-22F8-4BA4-89F4-353E6AE4D4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>
        <p14:window dir="vert"/>
      </p:transition>
    </mc:Choice>
    <mc:Fallback>
      <p:transition spd="slow" advClick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37E8C-BD17-4D0C-8C92-9D8FF8BCB4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B059A-22F8-4BA4-89F4-353E6AE4D4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>
        <p14:window dir="vert"/>
      </p:transition>
    </mc:Choice>
    <mc:Fallback>
      <p:transition spd="slow" advClick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37E8C-BD17-4D0C-8C92-9D8FF8BCB4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B059A-22F8-4BA4-89F4-353E6AE4D412}" type="slidenum">
              <a:rPr lang="zh-CN" altLang="en-US" smtClean="0"/>
            </a:fld>
            <a:endParaRPr lang="zh-CN" alt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1007605" y="6739570"/>
            <a:ext cx="180020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模板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http://www.1ppt.com/moban/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>
        <p14:window dir="vert"/>
      </p:transition>
    </mc:Choice>
    <mc:Fallback>
      <p:transition spd="slow" advClick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37E8C-BD17-4D0C-8C92-9D8FF8BCB4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B059A-22F8-4BA4-89F4-353E6AE4D4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>
        <p14:window dir="vert"/>
      </p:transition>
    </mc:Choice>
    <mc:Fallback>
      <p:transition spd="slow" advClick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37E8C-BD17-4D0C-8C92-9D8FF8BCB4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B059A-22F8-4BA4-89F4-353E6AE4D4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>
        <p14:window dir="vert"/>
      </p:transition>
    </mc:Choice>
    <mc:Fallback>
      <p:transition spd="slow" advClick="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37E8C-BD17-4D0C-8C92-9D8FF8BCB4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B059A-22F8-4BA4-89F4-353E6AE4D4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>
        <p14:window dir="vert"/>
      </p:transition>
    </mc:Choice>
    <mc:Fallback>
      <p:transition spd="slow" advClick="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37E8C-BD17-4D0C-8C92-9D8FF8BCB4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B059A-22F8-4BA4-89F4-353E6AE4D4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>
        <p14:window dir="vert"/>
      </p:transition>
    </mc:Choice>
    <mc:Fallback>
      <p:transition spd="slow" advClick="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37E8C-BD17-4D0C-8C92-9D8FF8BCB4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B059A-22F8-4BA4-89F4-353E6AE4D4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>
        <p14:window dir="vert"/>
      </p:transition>
    </mc:Choice>
    <mc:Fallback>
      <p:transition spd="slow" advClick="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37E8C-BD17-4D0C-8C92-9D8FF8BCB4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B059A-22F8-4BA4-89F4-353E6AE4D4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>
        <p14:window dir="vert"/>
      </p:transition>
    </mc:Choice>
    <mc:Fallback>
      <p:transition spd="slow" advClick="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游戏机&#10;&#10;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778000"/>
            <a:ext cx="12192000" cy="5080000"/>
          </a:xfrm>
          <a:prstGeom prst="rect">
            <a:avLst/>
          </a:prstGeom>
        </p:spPr>
      </p:pic>
      <p:sp>
        <p:nvSpPr>
          <p:cNvPr id="8" name="矩形: 圆角 7"/>
          <p:cNvSpPr/>
          <p:nvPr userDrawn="1"/>
        </p:nvSpPr>
        <p:spPr>
          <a:xfrm>
            <a:off x="417444" y="409575"/>
            <a:ext cx="11330608" cy="5984501"/>
          </a:xfrm>
          <a:prstGeom prst="roundRect">
            <a:avLst>
              <a:gd name="adj" fmla="val 3969"/>
            </a:avLst>
          </a:prstGeom>
          <a:solidFill>
            <a:schemeClr val="bg1"/>
          </a:solidFill>
          <a:ln>
            <a:noFill/>
          </a:ln>
          <a:effectLst>
            <a:outerShdw blurRad="266700" sx="99000" sy="99000" algn="ctr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>
        <p14:window dir="vert"/>
      </p:transition>
    </mc:Choice>
    <mc:Fallback>
      <p:transition spd="slow" advClick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0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mc:AlternateContent xmlns:mc="http://schemas.openxmlformats.org/markup-compatibility/2006">
    <mc:Choice xmlns:p14="http://schemas.microsoft.com/office/powerpoint/2010/main" Requires="p14">
      <p:transition spd="slow" p14:dur="1500" advClick="0">
        <p14:window dir="vert"/>
      </p:transition>
    </mc:Choice>
    <mc:Fallback>
      <p:transition spd="slow" advClick="0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937E8C-BD17-4D0C-8C92-9D8FF8BCB4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9B059A-22F8-4BA4-89F4-353E6AE4D41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</p:sldLayoutIdLst>
  <mc:AlternateContent xmlns:mc="http://schemas.openxmlformats.org/markup-compatibility/2006">
    <mc:Choice xmlns:p14="http://schemas.microsoft.com/office/powerpoint/2010/main" Requires="p14">
      <p:transition spd="slow" p14:dur="1500" advClick="0">
        <p14:window dir="vert"/>
      </p:transition>
    </mc:Choice>
    <mc:Fallback>
      <p:transition spd="slow" advClick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2" Type="http://schemas.openxmlformats.org/officeDocument/2006/relationships/notesSlide" Target="../notesSlides/notesSlide1.xml"/><Relationship Id="rId11" Type="http://schemas.openxmlformats.org/officeDocument/2006/relationships/slideLayout" Target="../slideLayouts/slideLayout4.xml"/><Relationship Id="rId10" Type="http://schemas.openxmlformats.org/officeDocument/2006/relationships/image" Target="../media/image2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5.xml"/><Relationship Id="rId6" Type="http://schemas.openxmlformats.org/officeDocument/2006/relationships/tags" Target="../tags/tag14.xml"/><Relationship Id="rId5" Type="http://schemas.openxmlformats.org/officeDocument/2006/relationships/image" Target="../media/image3.jpeg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5.xml"/><Relationship Id="rId6" Type="http://schemas.openxmlformats.org/officeDocument/2006/relationships/tags" Target="../tags/tag19.xml"/><Relationship Id="rId5" Type="http://schemas.openxmlformats.org/officeDocument/2006/relationships/image" Target="../media/image3.jpeg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5.xml"/><Relationship Id="rId6" Type="http://schemas.openxmlformats.org/officeDocument/2006/relationships/tags" Target="../tags/tag24.xml"/><Relationship Id="rId5" Type="http://schemas.openxmlformats.org/officeDocument/2006/relationships/image" Target="../media/image3.jpeg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5.xml"/><Relationship Id="rId5" Type="http://schemas.openxmlformats.org/officeDocument/2006/relationships/tags" Target="../tags/tag28.xml"/><Relationship Id="rId4" Type="http://schemas.openxmlformats.org/officeDocument/2006/relationships/image" Target="../media/image3.jpeg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image" Target="../media/image2.png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5"/>
          <p:cNvSpPr/>
          <p:nvPr>
            <p:custDataLst>
              <p:tags r:id="rId1"/>
            </p:custDataLst>
          </p:nvPr>
        </p:nvSpPr>
        <p:spPr>
          <a:xfrm>
            <a:off x="0" y="3570514"/>
            <a:ext cx="3381829" cy="3287486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7" name="等腰三角形 6"/>
          <p:cNvSpPr/>
          <p:nvPr>
            <p:custDataLst>
              <p:tags r:id="rId2"/>
            </p:custDataLst>
          </p:nvPr>
        </p:nvSpPr>
        <p:spPr>
          <a:xfrm rot="10800000">
            <a:off x="8810171" y="0"/>
            <a:ext cx="3381829" cy="3287486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8" name="任意多边形: 形状 7"/>
          <p:cNvSpPr/>
          <p:nvPr>
            <p:custDataLst>
              <p:tags r:id="rId3"/>
            </p:custDataLst>
          </p:nvPr>
        </p:nvSpPr>
        <p:spPr>
          <a:xfrm>
            <a:off x="-24311" y="2155666"/>
            <a:ext cx="3505200" cy="4660900"/>
          </a:xfrm>
          <a:custGeom>
            <a:avLst/>
            <a:gdLst>
              <a:gd name="connsiteX0" fmla="*/ 0 w 3505200"/>
              <a:gd name="connsiteY0" fmla="*/ 0 h 4660900"/>
              <a:gd name="connsiteX1" fmla="*/ 3505200 w 3505200"/>
              <a:gd name="connsiteY1" fmla="*/ 3505200 h 4660900"/>
              <a:gd name="connsiteX2" fmla="*/ 2324100 w 3505200"/>
              <a:gd name="connsiteY2" fmla="*/ 4660900 h 466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05200" h="4660900">
                <a:moveTo>
                  <a:pt x="0" y="0"/>
                </a:moveTo>
                <a:lnTo>
                  <a:pt x="3505200" y="3505200"/>
                </a:lnTo>
                <a:lnTo>
                  <a:pt x="2324100" y="4660900"/>
                </a:lnTo>
              </a:path>
            </a:pathLst>
          </a:custGeom>
          <a:noFill/>
          <a:ln w="12700">
            <a:solidFill>
              <a:srgbClr val="92888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9" name="任意多边形: 形状 8"/>
          <p:cNvSpPr/>
          <p:nvPr>
            <p:custDataLst>
              <p:tags r:id="rId4"/>
            </p:custDataLst>
          </p:nvPr>
        </p:nvSpPr>
        <p:spPr>
          <a:xfrm>
            <a:off x="5330823" y="-25400"/>
            <a:ext cx="1536700" cy="774700"/>
          </a:xfrm>
          <a:custGeom>
            <a:avLst/>
            <a:gdLst>
              <a:gd name="connsiteX0" fmla="*/ 0 w 1498600"/>
              <a:gd name="connsiteY0" fmla="*/ 0 h 749300"/>
              <a:gd name="connsiteX1" fmla="*/ 762000 w 1498600"/>
              <a:gd name="connsiteY1" fmla="*/ 749300 h 749300"/>
              <a:gd name="connsiteX2" fmla="*/ 1498600 w 1498600"/>
              <a:gd name="connsiteY2" fmla="*/ 12700 h 749300"/>
              <a:gd name="connsiteX0-1" fmla="*/ 0 w 1536700"/>
              <a:gd name="connsiteY0-2" fmla="*/ 25400 h 774700"/>
              <a:gd name="connsiteX1-3" fmla="*/ 762000 w 1536700"/>
              <a:gd name="connsiteY1-4" fmla="*/ 774700 h 774700"/>
              <a:gd name="connsiteX2-5" fmla="*/ 1536700 w 1536700"/>
              <a:gd name="connsiteY2-6" fmla="*/ 0 h 7747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536700" h="774700">
                <a:moveTo>
                  <a:pt x="0" y="25400"/>
                </a:moveTo>
                <a:lnTo>
                  <a:pt x="762000" y="774700"/>
                </a:lnTo>
                <a:lnTo>
                  <a:pt x="1536700" y="0"/>
                </a:lnTo>
              </a:path>
            </a:pathLst>
          </a:custGeom>
          <a:noFill/>
          <a:ln w="12700">
            <a:solidFill>
              <a:srgbClr val="92888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10" name="任意多边形: 形状 9"/>
          <p:cNvSpPr/>
          <p:nvPr>
            <p:custDataLst>
              <p:tags r:id="rId5"/>
            </p:custDataLst>
          </p:nvPr>
        </p:nvSpPr>
        <p:spPr>
          <a:xfrm>
            <a:off x="8458200" y="3797300"/>
            <a:ext cx="3048000" cy="3022600"/>
          </a:xfrm>
          <a:custGeom>
            <a:avLst/>
            <a:gdLst>
              <a:gd name="connsiteX0" fmla="*/ 3048000 w 3048000"/>
              <a:gd name="connsiteY0" fmla="*/ 0 h 3022600"/>
              <a:gd name="connsiteX1" fmla="*/ 0 w 3048000"/>
              <a:gd name="connsiteY1" fmla="*/ 3022600 h 302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48000" h="3022600">
                <a:moveTo>
                  <a:pt x="3048000" y="0"/>
                </a:moveTo>
                <a:lnTo>
                  <a:pt x="0" y="3022600"/>
                </a:lnTo>
              </a:path>
            </a:pathLst>
          </a:custGeom>
          <a:noFill/>
          <a:ln w="12700">
            <a:solidFill>
              <a:srgbClr val="92888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11" name="任意多边形: 形状 10"/>
          <p:cNvSpPr/>
          <p:nvPr>
            <p:custDataLst>
              <p:tags r:id="rId6"/>
            </p:custDataLst>
          </p:nvPr>
        </p:nvSpPr>
        <p:spPr>
          <a:xfrm>
            <a:off x="9423400" y="5041900"/>
            <a:ext cx="1816100" cy="1803400"/>
          </a:xfrm>
          <a:custGeom>
            <a:avLst/>
            <a:gdLst>
              <a:gd name="connsiteX0" fmla="*/ 0 w 1816100"/>
              <a:gd name="connsiteY0" fmla="*/ 0 h 1803400"/>
              <a:gd name="connsiteX1" fmla="*/ 1816100 w 1816100"/>
              <a:gd name="connsiteY1" fmla="*/ 1803400 h 180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16100" h="1803400">
                <a:moveTo>
                  <a:pt x="0" y="0"/>
                </a:moveTo>
                <a:lnTo>
                  <a:pt x="1816100" y="1803400"/>
                </a:lnTo>
              </a:path>
            </a:pathLst>
          </a:custGeom>
          <a:noFill/>
          <a:ln w="12700">
            <a:solidFill>
              <a:srgbClr val="92888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12" name="任意多边形: 形状 11"/>
          <p:cNvSpPr/>
          <p:nvPr>
            <p:custDataLst>
              <p:tags r:id="rId7"/>
            </p:custDataLst>
          </p:nvPr>
        </p:nvSpPr>
        <p:spPr>
          <a:xfrm>
            <a:off x="10401300" y="1905000"/>
            <a:ext cx="1790700" cy="3543300"/>
          </a:xfrm>
          <a:custGeom>
            <a:avLst/>
            <a:gdLst>
              <a:gd name="connsiteX0" fmla="*/ 1778000 w 1790700"/>
              <a:gd name="connsiteY0" fmla="*/ 0 h 3543300"/>
              <a:gd name="connsiteX1" fmla="*/ 0 w 1790700"/>
              <a:gd name="connsiteY1" fmla="*/ 1765300 h 3543300"/>
              <a:gd name="connsiteX2" fmla="*/ 1790700 w 1790700"/>
              <a:gd name="connsiteY2" fmla="*/ 3543300 h 3543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90700" h="3543300">
                <a:moveTo>
                  <a:pt x="1778000" y="0"/>
                </a:moveTo>
                <a:lnTo>
                  <a:pt x="0" y="1765300"/>
                </a:lnTo>
                <a:lnTo>
                  <a:pt x="1790700" y="3543300"/>
                </a:lnTo>
              </a:path>
            </a:pathLst>
          </a:custGeom>
          <a:noFill/>
          <a:ln w="12700">
            <a:solidFill>
              <a:srgbClr val="92888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13" name="标题 1"/>
          <p:cNvSpPr txBox="1"/>
          <p:nvPr/>
        </p:nvSpPr>
        <p:spPr>
          <a:xfrm>
            <a:off x="1967865" y="1207770"/>
            <a:ext cx="8093710" cy="13258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7200" spc="300" dirty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+mn-ea"/>
                <a:sym typeface="+mn-lt"/>
              </a:rPr>
              <a:t>数据结构</a:t>
            </a:r>
            <a:r>
              <a:rPr lang="en-US" altLang="zh-CN" sz="7200" spc="300" dirty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+mn-ea"/>
                <a:sym typeface="+mn-lt"/>
              </a:rPr>
              <a:t>-18</a:t>
            </a:r>
            <a:r>
              <a:rPr lang="zh-CN" altLang="en-US" sz="7200" spc="300" dirty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+mn-ea"/>
                <a:sym typeface="+mn-lt"/>
              </a:rPr>
              <a:t>周</a:t>
            </a:r>
            <a:endParaRPr lang="zh-CN" altLang="en-US" sz="7200" spc="300" dirty="0">
              <a:solidFill>
                <a:schemeClr val="bg2"/>
              </a:solidFill>
              <a:latin typeface="方正姚体" panose="02010601030101010101" pitchFamily="2" charset="-122"/>
              <a:ea typeface="方正姚体" panose="02010601030101010101" pitchFamily="2" charset="-122"/>
              <a:cs typeface="+mn-ea"/>
              <a:sym typeface="+mn-lt"/>
            </a:endParaRPr>
          </a:p>
        </p:txBody>
      </p:sp>
      <p:sp>
        <p:nvSpPr>
          <p:cNvPr id="14" name="矩形 13"/>
          <p:cNvSpPr/>
          <p:nvPr>
            <p:custDataLst>
              <p:tags r:id="rId8"/>
            </p:custDataLst>
          </p:nvPr>
        </p:nvSpPr>
        <p:spPr>
          <a:xfrm>
            <a:off x="2682240" y="4224655"/>
            <a:ext cx="683958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zh-CN" altLang="en-US" sz="2000" b="0" i="0" u="none" strike="noStrike" dirty="0">
                <a:solidFill>
                  <a:schemeClr val="dk1">
                    <a:lumMod val="90000"/>
                    <a:lumOff val="10000"/>
                  </a:schemeClr>
                </a:solidFill>
                <a:effectLst/>
                <a:cs typeface="+mn-ea"/>
                <a:sym typeface="+mn-lt"/>
              </a:rPr>
              <a:t>张天戈</a:t>
            </a:r>
            <a:endParaRPr lang="zh-CN" altLang="en-US" sz="2000" b="0" i="0" u="none" strike="noStrike" dirty="0">
              <a:solidFill>
                <a:schemeClr val="dk1">
                  <a:lumMod val="90000"/>
                  <a:lumOff val="10000"/>
                </a:schemeClr>
              </a:solidFill>
              <a:effectLst/>
              <a:cs typeface="+mn-ea"/>
              <a:sym typeface="+mn-lt"/>
            </a:endParaRPr>
          </a:p>
        </p:txBody>
      </p:sp>
      <p:sp>
        <p:nvSpPr>
          <p:cNvPr id="21" name="矩形 20"/>
          <p:cNvSpPr/>
          <p:nvPr>
            <p:custDataLst>
              <p:tags r:id="rId9"/>
            </p:custDataLst>
          </p:nvPr>
        </p:nvSpPr>
        <p:spPr>
          <a:xfrm>
            <a:off x="2181861" y="3198222"/>
            <a:ext cx="782828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b="1" spc="600" dirty="0">
                <a:solidFill>
                  <a:schemeClr val="bg2"/>
                </a:solidFill>
                <a:cs typeface="+mn-ea"/>
                <a:sym typeface="+mn-lt"/>
              </a:rPr>
              <a:t>范围：期末总</a:t>
            </a:r>
            <a:r>
              <a:rPr lang="zh-CN" altLang="en-US" sz="2400" b="1" spc="600" dirty="0">
                <a:solidFill>
                  <a:schemeClr val="bg2"/>
                </a:solidFill>
                <a:cs typeface="+mn-ea"/>
                <a:sym typeface="+mn-lt"/>
              </a:rPr>
              <a:t>预习，备考冲刺（</a:t>
            </a:r>
            <a:r>
              <a:rPr lang="zh-CN" altLang="en-US" sz="3200" b="1" spc="600" dirty="0">
                <a:solidFill>
                  <a:schemeClr val="bg2"/>
                </a:solidFill>
                <a:highlight>
                  <a:srgbClr val="FFFF00"/>
                </a:highlight>
                <a:cs typeface="+mn-ea"/>
                <a:sym typeface="+mn-lt"/>
              </a:rPr>
              <a:t>补天指南</a:t>
            </a:r>
            <a:r>
              <a:rPr lang="zh-CN" altLang="en-US" sz="2400" b="1" spc="600" dirty="0">
                <a:solidFill>
                  <a:schemeClr val="bg2"/>
                </a:solidFill>
                <a:cs typeface="+mn-ea"/>
                <a:sym typeface="+mn-lt"/>
              </a:rPr>
              <a:t>）</a:t>
            </a:r>
            <a:endParaRPr lang="zh-CN" altLang="en-US" sz="2400" b="1" spc="600" dirty="0">
              <a:solidFill>
                <a:schemeClr val="bg2"/>
              </a:solidFill>
              <a:cs typeface="+mn-ea"/>
              <a:sym typeface="+mn-lt"/>
            </a:endParaRPr>
          </a:p>
        </p:txBody>
      </p:sp>
      <p:pic>
        <p:nvPicPr>
          <p:cNvPr id="24" name="图片 23" descr="山东大学校徽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83835" y="4819650"/>
            <a:ext cx="1631315" cy="16262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>
        <p14:window dir="vert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/>
      </p:par>
    </p:tnLst>
    <p:bldLst>
      <p:bldP spid="6" grpId="0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/>
      <p:bldP spid="14" grpId="0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/>
          <p:cNvSpPr txBox="1"/>
          <p:nvPr>
            <p:custDataLst>
              <p:tags r:id="rId1"/>
            </p:custDataLst>
          </p:nvPr>
        </p:nvSpPr>
        <p:spPr>
          <a:xfrm>
            <a:off x="3424495" y="6588355"/>
            <a:ext cx="180020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lt1">
                    <a:lumMod val="50000"/>
                  </a:schemeClr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lt1">
                    <a:lumMod val="50000"/>
                  </a:schemeClr>
                </a:solidFill>
                <a:effectLst/>
                <a:uLnTx/>
                <a:uFillTx/>
              </a:rPr>
              <a:t>模板 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lt1">
                    <a:lumMod val="50000"/>
                  </a:schemeClr>
                </a:solidFill>
                <a:effectLst/>
                <a:uLnTx/>
                <a:uFillTx/>
              </a:rPr>
              <a:t>http://www.1ppt.com/moban/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lt1">
                    <a:lumMod val="50000"/>
                  </a:schemeClr>
                </a:solidFill>
                <a:effectLst/>
                <a:uLnTx/>
                <a:uFillTx/>
              </a:rPr>
              <a:t> </a:t>
            </a:r>
            <a:endParaRPr kumimoji="0" lang="zh-CN" altLang="en-US" sz="100" b="0" i="0" u="none" strike="noStrike" kern="0" cap="none" spc="0" normalizeH="0" baseline="0" noProof="0" dirty="0" smtClean="0">
              <a:ln>
                <a:noFill/>
              </a:ln>
              <a:solidFill>
                <a:schemeClr val="lt1">
                  <a:lumMod val="50000"/>
                </a:schemeClr>
              </a:solidFill>
              <a:effectLst/>
              <a:uLnTx/>
              <a:uFillTx/>
            </a:endParaRPr>
          </a:p>
        </p:txBody>
      </p:sp>
      <p:grpSp>
        <p:nvGrpSpPr>
          <p:cNvPr id="122" name="组合 121"/>
          <p:cNvGrpSpPr/>
          <p:nvPr/>
        </p:nvGrpSpPr>
        <p:grpSpPr>
          <a:xfrm>
            <a:off x="723900" y="303571"/>
            <a:ext cx="11468099" cy="583565"/>
            <a:chOff x="723900" y="303571"/>
            <a:chExt cx="11468099" cy="583565"/>
          </a:xfrm>
        </p:grpSpPr>
        <p:sp>
          <p:nvSpPr>
            <p:cNvPr id="8" name="矩形 7"/>
            <p:cNvSpPr/>
            <p:nvPr>
              <p:custDataLst>
                <p:tags r:id="rId2"/>
              </p:custDataLst>
            </p:nvPr>
          </p:nvSpPr>
          <p:spPr>
            <a:xfrm>
              <a:off x="723900" y="354013"/>
              <a:ext cx="11468099" cy="5232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cs typeface="+mn-ea"/>
                <a:sym typeface="+mn-lt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097915" y="303571"/>
              <a:ext cx="6120130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3200" b="1" spc="50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cs typeface="+mn-ea"/>
                  <a:sym typeface="+mn-lt"/>
                </a:rPr>
                <a:t>复习策略（以题促</a:t>
              </a:r>
              <a:r>
                <a:rPr lang="zh-CN" altLang="en-US" sz="3200" b="1" spc="50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cs typeface="+mn-ea"/>
                  <a:sym typeface="+mn-lt"/>
                </a:rPr>
                <a:t>学）</a:t>
              </a:r>
              <a:endParaRPr lang="zh-CN" altLang="en-US" sz="3200" b="1" spc="50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01847" y="257072"/>
            <a:ext cx="717104" cy="717102"/>
            <a:chOff x="304800" y="673100"/>
            <a:chExt cx="4000500" cy="4000500"/>
          </a:xfrm>
          <a:effectLst>
            <a:outerShdw blurRad="444500" dist="76200" dir="8100000" algn="tr" rotWithShape="0">
              <a:schemeClr val="tx1">
                <a:lumMod val="65000"/>
                <a:lumOff val="35000"/>
                <a:alpha val="50000"/>
              </a:schemeClr>
            </a:outerShdw>
          </a:effectLst>
        </p:grpSpPr>
        <p:sp>
          <p:nvSpPr>
            <p:cNvPr id="6" name="同心圆 98"/>
            <p:cNvSpPr/>
            <p:nvPr>
              <p:custDataLst>
                <p:tags r:id="rId3"/>
              </p:custDataLst>
            </p:nvPr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rgbClr val="FFFFFF"/>
                </a:gs>
                <a:gs pos="55000">
                  <a:srgbClr val="F2F2F2">
                    <a:lumMod val="95000"/>
                  </a:srgbClr>
                </a:gs>
                <a:gs pos="100000">
                  <a:srgbClr val="A6A6A6">
                    <a:lumMod val="65000"/>
                  </a:srgbClr>
                </a:gs>
              </a:gsLst>
              <a:lin ang="8100000" scaled="0"/>
            </a:gradFill>
            <a:ln>
              <a:noFill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6830" dir="2700000" sx="0" sy="0" rotWithShape="0">
                      <a:schemeClr val="dk1">
                        <a:lumMod val="75000"/>
                        <a:lumOff val="25000"/>
                      </a:schemeClr>
                    </a:outerShdw>
                  </a:effectLst>
                </a14:hiddenEffects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 dirty="0">
                <a:solidFill>
                  <a:schemeClr val="dk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" name="椭圆 6"/>
            <p:cNvSpPr/>
            <p:nvPr>
              <p:custDataLst>
                <p:tags r:id="rId4"/>
              </p:custDataLst>
            </p:nvPr>
          </p:nvSpPr>
          <p:spPr>
            <a:xfrm>
              <a:off x="392112" y="760412"/>
              <a:ext cx="3825876" cy="3825875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1000">
                  <a:srgbClr val="F2F2F2">
                    <a:lumMod val="95000"/>
                  </a:srgbClr>
                </a:gs>
                <a:gs pos="100000">
                  <a:srgbClr val="BFBFBF">
                    <a:lumMod val="75000"/>
                  </a:srgbClr>
                </a:gs>
              </a:gsLst>
              <a:lin ang="18900000" scaled="0"/>
            </a:gradFill>
            <a:ln>
              <a:noFill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6830" dir="2700000" sx="0" sy="0" rotWithShape="0">
                      <a:schemeClr val="dk1">
                        <a:lumMod val="75000"/>
                        <a:lumOff val="25000"/>
                      </a:schemeClr>
                    </a:outerShdw>
                  </a:effectLst>
                </a14:hiddenEffects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solidFill>
                  <a:schemeClr val="dk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pic>
        <p:nvPicPr>
          <p:cNvPr id="4" name="图片 3" descr="山东大学校徽与中英文校名标准组合（横式）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1970" y="177165"/>
            <a:ext cx="2178685" cy="970915"/>
          </a:xfrm>
          <a:prstGeom prst="rect">
            <a:avLst/>
          </a:prstGeom>
        </p:spPr>
      </p:pic>
      <p:sp>
        <p:nvSpPr>
          <p:cNvPr id="21" name="矩形 20"/>
          <p:cNvSpPr/>
          <p:nvPr>
            <p:custDataLst>
              <p:tags r:id="rId6"/>
            </p:custDataLst>
          </p:nvPr>
        </p:nvSpPr>
        <p:spPr>
          <a:xfrm>
            <a:off x="451485" y="1309370"/>
            <a:ext cx="11473180" cy="5170805"/>
          </a:xfrm>
          <a:prstGeom prst="rect">
            <a:avLst/>
          </a:prstGeom>
        </p:spPr>
        <p:txBody>
          <a:bodyPr wrap="square">
            <a:noAutofit/>
          </a:bodyPr>
          <a:p>
            <a:pPr indent="0" algn="l" fontAlgn="auto"/>
            <a:r>
              <a:rPr lang="zh-CN" altLang="en-US" sz="3200" b="1" spc="600" dirty="0">
                <a:solidFill>
                  <a:schemeClr val="bg2"/>
                </a:solidFill>
                <a:highlight>
                  <a:srgbClr val="FFFF00"/>
                </a:highlight>
                <a:cs typeface="+mn-ea"/>
                <a:sym typeface="+mn-lt"/>
              </a:rPr>
              <a:t>明确</a:t>
            </a:r>
            <a:r>
              <a:rPr lang="zh-CN" altLang="en-US" sz="2400" b="1" spc="600" dirty="0">
                <a:solidFill>
                  <a:schemeClr val="bg2"/>
                </a:solidFill>
                <a:cs typeface="+mn-ea"/>
                <a:sym typeface="+mn-lt"/>
              </a:rPr>
              <a:t>考纲：</a:t>
            </a:r>
            <a:endParaRPr lang="zh-CN" altLang="en-US" sz="3200" b="1" spc="600" dirty="0">
              <a:solidFill>
                <a:schemeClr val="bg2"/>
              </a:solidFill>
              <a:highlight>
                <a:srgbClr val="FFFF00"/>
              </a:highlight>
              <a:cs typeface="+mn-ea"/>
              <a:sym typeface="+mn-lt"/>
            </a:endParaRPr>
          </a:p>
          <a:p>
            <a:pPr indent="0" algn="l" fontAlgn="auto"/>
            <a:r>
              <a:rPr lang="zh-CN" altLang="en-US" sz="2000" spc="600" dirty="0">
                <a:cs typeface="+mn-ea"/>
                <a:sym typeface="+mn-lt"/>
              </a:rPr>
              <a:t>课本（课堂讲的）内容并不是考试范围，要压缩复习范围。可以根据复习课、与其他班级同学交流等方式获取。尤其注意说的很细的需要掌握的题目</a:t>
            </a:r>
            <a:r>
              <a:rPr lang="zh-CN" altLang="en-US" sz="2000" spc="600" dirty="0">
                <a:cs typeface="+mn-ea"/>
                <a:sym typeface="+mn-lt"/>
              </a:rPr>
              <a:t>类型。</a:t>
            </a:r>
            <a:endParaRPr lang="zh-CN" altLang="en-US" sz="2000" spc="600" dirty="0">
              <a:cs typeface="+mn-ea"/>
              <a:sym typeface="+mn-lt"/>
            </a:endParaRPr>
          </a:p>
          <a:p>
            <a:pPr indent="0" algn="l" fontAlgn="auto"/>
            <a:endParaRPr lang="zh-CN" altLang="en-US" sz="2400" spc="600" dirty="0">
              <a:cs typeface="+mn-ea"/>
              <a:sym typeface="+mn-lt"/>
            </a:endParaRPr>
          </a:p>
          <a:p>
            <a:pPr indent="0" algn="l" fontAlgn="auto"/>
            <a:r>
              <a:rPr lang="zh-CN" altLang="en-US" sz="3200" b="1" spc="600" dirty="0">
                <a:solidFill>
                  <a:schemeClr val="bg2"/>
                </a:solidFill>
                <a:highlight>
                  <a:srgbClr val="FFFF00"/>
                </a:highlight>
                <a:cs typeface="+mn-ea"/>
                <a:sym typeface="+mn-lt"/>
              </a:rPr>
              <a:t>做</a:t>
            </a:r>
            <a:r>
              <a:rPr lang="zh-CN" altLang="en-US" sz="2400" b="1" spc="600" dirty="0">
                <a:solidFill>
                  <a:schemeClr val="bg2"/>
                </a:solidFill>
                <a:cs typeface="+mn-ea"/>
                <a:sym typeface="+mn-lt"/>
              </a:rPr>
              <a:t>往年</a:t>
            </a:r>
            <a:r>
              <a:rPr lang="zh-CN" altLang="en-US" sz="2400" b="1" spc="600" dirty="0">
                <a:solidFill>
                  <a:schemeClr val="bg2"/>
                </a:solidFill>
                <a:cs typeface="+mn-ea"/>
                <a:sym typeface="+mn-lt"/>
              </a:rPr>
              <a:t>题：</a:t>
            </a:r>
            <a:endParaRPr lang="zh-CN" altLang="en-US" sz="2400" b="1" spc="600" dirty="0">
              <a:solidFill>
                <a:schemeClr val="bg2"/>
              </a:solidFill>
              <a:cs typeface="+mn-ea"/>
              <a:sym typeface="+mn-lt"/>
            </a:endParaRPr>
          </a:p>
          <a:p>
            <a:pPr algn="l" fontAlgn="auto">
              <a:buClrTx/>
              <a:buSzTx/>
              <a:buFontTx/>
            </a:pPr>
            <a:r>
              <a:rPr lang="zh-CN" altLang="en-US" sz="2000" spc="600" dirty="0">
                <a:solidFill>
                  <a:schemeClr val="tx1"/>
                </a:solidFill>
                <a:cs typeface="+mn-ea"/>
                <a:sym typeface="+mn-lt"/>
              </a:rPr>
              <a:t>近三年的参考意义更大，尤其是题型、</a:t>
            </a:r>
            <a:r>
              <a:rPr lang="zh-CN" altLang="en-US" sz="2000" spc="600" dirty="0">
                <a:solidFill>
                  <a:schemeClr val="tx1"/>
                </a:solidFill>
                <a:cs typeface="+mn-ea"/>
                <a:sym typeface="+mn-lt"/>
              </a:rPr>
              <a:t>题量。</a:t>
            </a:r>
            <a:endParaRPr lang="zh-CN" altLang="en-US" sz="2000" spc="600" dirty="0">
              <a:solidFill>
                <a:schemeClr val="tx1"/>
              </a:solidFill>
              <a:cs typeface="+mn-ea"/>
              <a:sym typeface="+mn-lt"/>
            </a:endParaRPr>
          </a:p>
          <a:p>
            <a:pPr indent="0" algn="l" fontAlgn="auto"/>
            <a:endParaRPr lang="zh-CN" altLang="en-US" sz="2400" b="1" spc="600" dirty="0">
              <a:solidFill>
                <a:schemeClr val="bg2"/>
              </a:solidFill>
              <a:cs typeface="+mn-ea"/>
              <a:sym typeface="+mn-lt"/>
            </a:endParaRPr>
          </a:p>
          <a:p>
            <a:pPr indent="0" algn="l" fontAlgn="auto"/>
            <a:r>
              <a:rPr lang="zh-CN" altLang="en-US" sz="3200" b="1" spc="600" dirty="0">
                <a:solidFill>
                  <a:schemeClr val="bg2"/>
                </a:solidFill>
                <a:highlight>
                  <a:srgbClr val="FFFF00"/>
                </a:highlight>
                <a:cs typeface="+mn-ea"/>
                <a:sym typeface="+mn-lt"/>
              </a:rPr>
              <a:t>过</a:t>
            </a:r>
            <a:r>
              <a:rPr lang="zh-CN" altLang="en-US" sz="2400" b="1" spc="600" dirty="0">
                <a:solidFill>
                  <a:schemeClr val="bg2"/>
                </a:solidFill>
                <a:cs typeface="+mn-ea"/>
                <a:sym typeface="+mn-lt"/>
              </a:rPr>
              <a:t>一遍数据结构操作：</a:t>
            </a:r>
            <a:endParaRPr lang="zh-CN" altLang="en-US" sz="2400" b="1" spc="600" dirty="0">
              <a:solidFill>
                <a:schemeClr val="bg2"/>
              </a:solidFill>
              <a:cs typeface="+mn-ea"/>
              <a:sym typeface="+mn-lt"/>
            </a:endParaRPr>
          </a:p>
          <a:p>
            <a:pPr algn="l" fontAlgn="auto">
              <a:buClrTx/>
              <a:buSzTx/>
              <a:buFontTx/>
              <a:buNone/>
            </a:pPr>
            <a:r>
              <a:rPr lang="zh-CN" altLang="en-US" sz="2000" spc="600" dirty="0">
                <a:cs typeface="+mn-ea"/>
                <a:sym typeface="+mn-lt"/>
              </a:rPr>
              <a:t>初始化、增加元素、查找元素、删除元素、（修改元素）的步骤和时间复杂度。</a:t>
            </a:r>
            <a:endParaRPr lang="zh-CN" altLang="en-US" sz="2000" spc="600" dirty="0">
              <a:cs typeface="+mn-ea"/>
              <a:sym typeface="+mn-lt"/>
            </a:endParaRPr>
          </a:p>
          <a:p>
            <a:pPr indent="0" algn="l" fontAlgn="auto"/>
            <a:endParaRPr lang="zh-CN" altLang="en-US" sz="2400" b="1" spc="600" dirty="0">
              <a:solidFill>
                <a:schemeClr val="bg2"/>
              </a:solidFill>
              <a:cs typeface="+mn-ea"/>
              <a:sym typeface="+mn-lt"/>
            </a:endParaRPr>
          </a:p>
          <a:p>
            <a:pPr indent="0" algn="l" fontAlgn="auto"/>
            <a:r>
              <a:rPr lang="zh-CN" altLang="en-US" sz="3200" b="1" spc="600" dirty="0">
                <a:solidFill>
                  <a:schemeClr val="bg2"/>
                </a:solidFill>
                <a:highlight>
                  <a:srgbClr val="FFFF00"/>
                </a:highlight>
                <a:cs typeface="+mn-ea"/>
                <a:sym typeface="+mn-lt"/>
              </a:rPr>
              <a:t>总结</a:t>
            </a:r>
            <a:r>
              <a:rPr lang="zh-CN" altLang="en-US" sz="2400" b="1" spc="600" dirty="0">
                <a:solidFill>
                  <a:schemeClr val="bg2"/>
                </a:solidFill>
                <a:cs typeface="+mn-ea"/>
                <a:sym typeface="+mn-lt"/>
              </a:rPr>
              <a:t>算法题</a:t>
            </a:r>
            <a:r>
              <a:rPr lang="zh-CN" altLang="en-US" sz="2400" b="1" spc="600" dirty="0">
                <a:solidFill>
                  <a:schemeClr val="bg2"/>
                </a:solidFill>
                <a:cs typeface="+mn-ea"/>
                <a:sym typeface="+mn-lt"/>
              </a:rPr>
              <a:t>要点：</a:t>
            </a:r>
            <a:endParaRPr lang="zh-CN" altLang="en-US" sz="2400" b="1" spc="600" dirty="0">
              <a:solidFill>
                <a:schemeClr val="bg2"/>
              </a:solidFill>
              <a:cs typeface="+mn-ea"/>
              <a:sym typeface="+mn-lt"/>
            </a:endParaRPr>
          </a:p>
          <a:p>
            <a:pPr algn="l" fontAlgn="auto">
              <a:buClrTx/>
              <a:buSzTx/>
              <a:buFontTx/>
            </a:pPr>
            <a:r>
              <a:rPr lang="zh-CN" altLang="en-US" sz="2000" spc="600" dirty="0">
                <a:cs typeface="+mn-ea"/>
                <a:sym typeface="+mn-lt"/>
              </a:rPr>
              <a:t>经典算法的思想和时间复杂度、递归式算法的框架、基础的动态规划</a:t>
            </a:r>
            <a:r>
              <a:rPr lang="zh-CN" altLang="en-US" sz="2000" spc="600" dirty="0">
                <a:cs typeface="+mn-ea"/>
                <a:sym typeface="+mn-lt"/>
              </a:rPr>
              <a:t>（重点是写出状态转移方程）</a:t>
            </a:r>
            <a:r>
              <a:rPr lang="zh-CN" altLang="en-US" sz="2000" spc="600" dirty="0">
                <a:cs typeface="+mn-ea"/>
                <a:sym typeface="+mn-lt"/>
              </a:rPr>
              <a:t>和贪心算法。</a:t>
            </a:r>
            <a:endParaRPr lang="zh-CN" altLang="en-US" sz="2000" spc="600" dirty="0">
              <a:cs typeface="+mn-ea"/>
              <a:sym typeface="+mn-lt"/>
            </a:endParaRPr>
          </a:p>
          <a:p>
            <a:pPr indent="0" algn="l" fontAlgn="auto"/>
            <a:endParaRPr lang="zh-CN" altLang="en-US" sz="2400" b="1" spc="600" dirty="0">
              <a:solidFill>
                <a:schemeClr val="bg2"/>
              </a:solidFill>
              <a:cs typeface="+mn-ea"/>
              <a:sym typeface="+mn-lt"/>
            </a:endParaRPr>
          </a:p>
          <a:p>
            <a:pPr indent="0" algn="l" fontAlgn="auto"/>
            <a:endParaRPr lang="zh-CN" altLang="en-US" sz="2400" spc="600" dirty="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Click="0" advTm="0">
        <p14:warp dir="in"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75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/>
          <p:cNvSpPr txBox="1"/>
          <p:nvPr>
            <p:custDataLst>
              <p:tags r:id="rId1"/>
            </p:custDataLst>
          </p:nvPr>
        </p:nvSpPr>
        <p:spPr>
          <a:xfrm>
            <a:off x="3424495" y="6588355"/>
            <a:ext cx="180020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lt1">
                    <a:lumMod val="50000"/>
                  </a:schemeClr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lt1">
                    <a:lumMod val="50000"/>
                  </a:schemeClr>
                </a:solidFill>
                <a:effectLst/>
                <a:uLnTx/>
                <a:uFillTx/>
              </a:rPr>
              <a:t>模板 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lt1">
                    <a:lumMod val="50000"/>
                  </a:schemeClr>
                </a:solidFill>
                <a:effectLst/>
                <a:uLnTx/>
                <a:uFillTx/>
              </a:rPr>
              <a:t>http://www.1ppt.com/moban/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lt1">
                    <a:lumMod val="50000"/>
                  </a:schemeClr>
                </a:solidFill>
                <a:effectLst/>
                <a:uLnTx/>
                <a:uFillTx/>
              </a:rPr>
              <a:t> </a:t>
            </a:r>
            <a:endParaRPr kumimoji="0" lang="zh-CN" altLang="en-US" sz="100" b="0" i="0" u="none" strike="noStrike" kern="0" cap="none" spc="0" normalizeH="0" baseline="0" noProof="0" dirty="0" smtClean="0">
              <a:ln>
                <a:noFill/>
              </a:ln>
              <a:solidFill>
                <a:schemeClr val="lt1">
                  <a:lumMod val="50000"/>
                </a:schemeClr>
              </a:solidFill>
              <a:effectLst/>
              <a:uLnTx/>
              <a:uFillTx/>
            </a:endParaRPr>
          </a:p>
        </p:txBody>
      </p:sp>
      <p:grpSp>
        <p:nvGrpSpPr>
          <p:cNvPr id="122" name="组合 121"/>
          <p:cNvGrpSpPr/>
          <p:nvPr/>
        </p:nvGrpSpPr>
        <p:grpSpPr>
          <a:xfrm>
            <a:off x="723900" y="303571"/>
            <a:ext cx="11468099" cy="583565"/>
            <a:chOff x="723900" y="303571"/>
            <a:chExt cx="11468099" cy="583565"/>
          </a:xfrm>
        </p:grpSpPr>
        <p:sp>
          <p:nvSpPr>
            <p:cNvPr id="8" name="矩形 7"/>
            <p:cNvSpPr/>
            <p:nvPr>
              <p:custDataLst>
                <p:tags r:id="rId2"/>
              </p:custDataLst>
            </p:nvPr>
          </p:nvSpPr>
          <p:spPr>
            <a:xfrm>
              <a:off x="723900" y="354013"/>
              <a:ext cx="11468099" cy="5232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cs typeface="+mn-ea"/>
                <a:sym typeface="+mn-lt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097915" y="303571"/>
              <a:ext cx="6120130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3200" b="1" spc="50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cs typeface="+mn-ea"/>
                  <a:sym typeface="+mn-lt"/>
                </a:rPr>
                <a:t>考点</a:t>
              </a:r>
              <a:r>
                <a:rPr lang="zh-CN" altLang="en-US" sz="3200" b="1" spc="50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cs typeface="+mn-ea"/>
                  <a:sym typeface="+mn-lt"/>
                </a:rPr>
                <a:t>梳理</a:t>
              </a:r>
              <a:endParaRPr lang="zh-CN" altLang="en-US" sz="3200" b="1" spc="50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01847" y="257072"/>
            <a:ext cx="717104" cy="717102"/>
            <a:chOff x="304800" y="673100"/>
            <a:chExt cx="4000500" cy="4000500"/>
          </a:xfrm>
          <a:effectLst>
            <a:outerShdw blurRad="444500" dist="76200" dir="8100000" algn="tr" rotWithShape="0">
              <a:schemeClr val="tx1">
                <a:lumMod val="65000"/>
                <a:lumOff val="35000"/>
                <a:alpha val="50000"/>
              </a:schemeClr>
            </a:outerShdw>
          </a:effectLst>
        </p:grpSpPr>
        <p:sp>
          <p:nvSpPr>
            <p:cNvPr id="6" name="同心圆 98"/>
            <p:cNvSpPr/>
            <p:nvPr>
              <p:custDataLst>
                <p:tags r:id="rId3"/>
              </p:custDataLst>
            </p:nvPr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rgbClr val="FFFFFF"/>
                </a:gs>
                <a:gs pos="55000">
                  <a:srgbClr val="F2F2F2">
                    <a:lumMod val="95000"/>
                  </a:srgbClr>
                </a:gs>
                <a:gs pos="100000">
                  <a:srgbClr val="A6A6A6">
                    <a:lumMod val="65000"/>
                  </a:srgbClr>
                </a:gs>
              </a:gsLst>
              <a:lin ang="8100000" scaled="0"/>
            </a:gradFill>
            <a:ln>
              <a:noFill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6830" dir="2700000" sx="0" sy="0" rotWithShape="0">
                      <a:schemeClr val="dk1">
                        <a:lumMod val="75000"/>
                        <a:lumOff val="25000"/>
                      </a:schemeClr>
                    </a:outerShdw>
                  </a:effectLst>
                </a14:hiddenEffects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 dirty="0">
                <a:solidFill>
                  <a:schemeClr val="dk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" name="椭圆 6"/>
            <p:cNvSpPr/>
            <p:nvPr>
              <p:custDataLst>
                <p:tags r:id="rId4"/>
              </p:custDataLst>
            </p:nvPr>
          </p:nvSpPr>
          <p:spPr>
            <a:xfrm>
              <a:off x="392112" y="760412"/>
              <a:ext cx="3825876" cy="3825875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1000">
                  <a:srgbClr val="F2F2F2">
                    <a:lumMod val="95000"/>
                  </a:srgbClr>
                </a:gs>
                <a:gs pos="100000">
                  <a:srgbClr val="BFBFBF">
                    <a:lumMod val="75000"/>
                  </a:srgbClr>
                </a:gs>
              </a:gsLst>
              <a:lin ang="18900000" scaled="0"/>
            </a:gradFill>
            <a:ln>
              <a:noFill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6830" dir="2700000" sx="0" sy="0" rotWithShape="0">
                      <a:schemeClr val="dk1">
                        <a:lumMod val="75000"/>
                        <a:lumOff val="25000"/>
                      </a:schemeClr>
                    </a:outerShdw>
                  </a:effectLst>
                </a14:hiddenEffects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solidFill>
                  <a:schemeClr val="dk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pic>
        <p:nvPicPr>
          <p:cNvPr id="4" name="图片 3" descr="山东大学校徽与中英文校名标准组合（横式）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1970" y="177165"/>
            <a:ext cx="2178685" cy="970915"/>
          </a:xfrm>
          <a:prstGeom prst="rect">
            <a:avLst/>
          </a:prstGeom>
        </p:spPr>
      </p:pic>
      <p:sp>
        <p:nvSpPr>
          <p:cNvPr id="21" name="矩形 20"/>
          <p:cNvSpPr/>
          <p:nvPr>
            <p:custDataLst>
              <p:tags r:id="rId6"/>
            </p:custDataLst>
          </p:nvPr>
        </p:nvSpPr>
        <p:spPr>
          <a:xfrm>
            <a:off x="537845" y="1083945"/>
            <a:ext cx="11250930" cy="5394960"/>
          </a:xfrm>
          <a:prstGeom prst="rect">
            <a:avLst/>
          </a:prstGeom>
        </p:spPr>
        <p:txBody>
          <a:bodyPr wrap="square">
            <a:noAutofit/>
          </a:bodyPr>
          <a:p>
            <a:pPr algn="l"/>
            <a:r>
              <a:rPr lang="zh-CN" altLang="en-US" sz="2400" b="1" spc="600" dirty="0">
                <a:solidFill>
                  <a:schemeClr val="bg2"/>
                </a:solidFill>
                <a:cs typeface="+mn-ea"/>
                <a:sym typeface="+mn-lt"/>
              </a:rPr>
              <a:t>线性</a:t>
            </a:r>
            <a:r>
              <a:rPr lang="zh-CN" altLang="en-US" sz="2400" b="1" spc="600" dirty="0">
                <a:solidFill>
                  <a:schemeClr val="bg2"/>
                </a:solidFill>
                <a:cs typeface="+mn-ea"/>
                <a:sym typeface="+mn-lt"/>
              </a:rPr>
              <a:t>结构：</a:t>
            </a:r>
            <a:endParaRPr lang="zh-CN" altLang="en-US" sz="2400" b="1" spc="600" dirty="0">
              <a:solidFill>
                <a:schemeClr val="bg2"/>
              </a:solidFill>
              <a:cs typeface="+mn-ea"/>
              <a:sym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spc="600" dirty="0">
                <a:solidFill>
                  <a:schemeClr val="tx1"/>
                </a:solidFill>
                <a:cs typeface="+mn-ea"/>
                <a:sym typeface="+mn-lt"/>
              </a:rPr>
              <a:t>数组、链表、栈、队列、Hash散列（会有</a:t>
            </a:r>
            <a:r>
              <a:rPr lang="zh-CN" altLang="en-US" sz="2000" b="1" spc="600" dirty="0">
                <a:solidFill>
                  <a:schemeClr val="tx1"/>
                </a:solidFill>
                <a:cs typeface="+mn-ea"/>
                <a:sym typeface="+mn-lt"/>
              </a:rPr>
              <a:t>简答</a:t>
            </a:r>
            <a:r>
              <a:rPr lang="zh-CN" altLang="en-US" sz="2000" spc="600" dirty="0">
                <a:solidFill>
                  <a:schemeClr val="tx1"/>
                </a:solidFill>
                <a:cs typeface="+mn-ea"/>
                <a:sym typeface="+mn-lt"/>
              </a:rPr>
              <a:t>，对比两种数据结构区别，如数组和链表、</a:t>
            </a:r>
            <a:r>
              <a:rPr lang="en-US" altLang="zh-CN" sz="2000" spc="600" dirty="0">
                <a:solidFill>
                  <a:schemeClr val="tx1"/>
                </a:solidFill>
                <a:cs typeface="+mn-ea"/>
                <a:sym typeface="+mn-lt"/>
              </a:rPr>
              <a:t>hash</a:t>
            </a:r>
            <a:r>
              <a:rPr lang="zh-CN" altLang="en-US" sz="2000" spc="600" dirty="0">
                <a:solidFill>
                  <a:schemeClr val="tx1"/>
                </a:solidFill>
                <a:cs typeface="+mn-ea"/>
                <a:sym typeface="+mn-lt"/>
              </a:rPr>
              <a:t>和跳表</a:t>
            </a:r>
            <a:r>
              <a:rPr lang="zh-CN" altLang="en-US" sz="2000" spc="600" dirty="0">
                <a:solidFill>
                  <a:schemeClr val="tx1"/>
                </a:solidFill>
                <a:cs typeface="+mn-ea"/>
                <a:sym typeface="+mn-lt"/>
              </a:rPr>
              <a:t>等）</a:t>
            </a:r>
            <a:endParaRPr lang="zh-CN" altLang="en-US" sz="2000" spc="6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/>
            <a:endParaRPr lang="zh-CN" altLang="en-US" sz="2400" b="1" spc="600" dirty="0">
              <a:solidFill>
                <a:schemeClr val="bg2"/>
              </a:solidFill>
              <a:cs typeface="+mn-ea"/>
              <a:sym typeface="+mn-lt"/>
            </a:endParaRPr>
          </a:p>
          <a:p>
            <a:pPr algn="l"/>
            <a:r>
              <a:rPr lang="zh-CN" altLang="en-US" sz="2400" b="1" spc="600" dirty="0">
                <a:solidFill>
                  <a:schemeClr val="bg2"/>
                </a:solidFill>
                <a:cs typeface="+mn-ea"/>
                <a:sym typeface="+mn-lt"/>
              </a:rPr>
              <a:t>层次</a:t>
            </a:r>
            <a:r>
              <a:rPr lang="zh-CN" altLang="en-US" sz="2400" b="1" spc="600" dirty="0">
                <a:solidFill>
                  <a:schemeClr val="bg2"/>
                </a:solidFill>
                <a:cs typeface="+mn-ea"/>
                <a:sym typeface="+mn-lt"/>
              </a:rPr>
              <a:t>结构：</a:t>
            </a:r>
            <a:endParaRPr lang="zh-CN" altLang="en-US" sz="2400" b="1" spc="600" dirty="0">
              <a:solidFill>
                <a:schemeClr val="bg2"/>
              </a:solidFill>
              <a:cs typeface="+mn-ea"/>
              <a:sym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spc="600" dirty="0">
                <a:cs typeface="+mn-ea"/>
                <a:sym typeface="+mn-lt"/>
              </a:rPr>
              <a:t>二叉树（二叉搜索树、平衡二叉树）、AVL树</a:t>
            </a:r>
            <a:r>
              <a:rPr lang="zh-CN" altLang="en-US" sz="2000" spc="600" dirty="0">
                <a:cs typeface="+mn-ea"/>
                <a:sym typeface="+mn-lt"/>
              </a:rPr>
              <a:t>、霍夫曼编码、堆、</a:t>
            </a:r>
            <a:r>
              <a:rPr lang="en-US" altLang="zh-CN" sz="2000" spc="600" dirty="0">
                <a:cs typeface="+mn-ea"/>
                <a:sym typeface="+mn-lt"/>
              </a:rPr>
              <a:t>m</a:t>
            </a:r>
            <a:r>
              <a:rPr lang="zh-CN" altLang="en-US" sz="2000" spc="600" dirty="0">
                <a:cs typeface="+mn-ea"/>
                <a:sym typeface="+mn-lt"/>
              </a:rPr>
              <a:t>阶B树</a:t>
            </a:r>
            <a:endParaRPr lang="zh-CN" altLang="en-US" sz="2000" spc="600" dirty="0">
              <a:cs typeface="+mn-ea"/>
              <a:sym typeface="+mn-lt"/>
            </a:endParaRPr>
          </a:p>
          <a:p>
            <a:pPr algn="l"/>
            <a:endParaRPr lang="zh-CN" altLang="en-US" sz="2400" spc="600" dirty="0">
              <a:cs typeface="+mn-ea"/>
              <a:sym typeface="+mn-lt"/>
            </a:endParaRPr>
          </a:p>
          <a:p>
            <a:pPr algn="l"/>
            <a:r>
              <a:rPr lang="zh-CN" altLang="en-US" sz="2400" b="1" spc="600" dirty="0">
                <a:solidFill>
                  <a:schemeClr val="bg2"/>
                </a:solidFill>
                <a:cs typeface="+mn-ea"/>
                <a:sym typeface="+mn-lt"/>
              </a:rPr>
              <a:t>网状</a:t>
            </a:r>
            <a:r>
              <a:rPr lang="zh-CN" altLang="en-US" sz="2400" b="1" spc="600" dirty="0">
                <a:solidFill>
                  <a:schemeClr val="bg2"/>
                </a:solidFill>
                <a:cs typeface="+mn-ea"/>
                <a:sym typeface="+mn-lt"/>
              </a:rPr>
              <a:t>结构：</a:t>
            </a:r>
            <a:endParaRPr lang="zh-CN" altLang="en-US" sz="2400" b="1" spc="600" dirty="0">
              <a:solidFill>
                <a:schemeClr val="bg2"/>
              </a:solidFill>
              <a:cs typeface="+mn-ea"/>
              <a:sym typeface="+mn-lt"/>
            </a:endParaRPr>
          </a:p>
          <a:p>
            <a:pPr algn="l"/>
            <a:r>
              <a:rPr lang="zh-CN" altLang="en-US" sz="2000" spc="600" dirty="0">
                <a:cs typeface="+mn-ea"/>
                <a:sym typeface="+mn-lt"/>
              </a:rPr>
              <a:t>最小生成树（</a:t>
            </a:r>
            <a:r>
              <a:rPr lang="en-US" altLang="zh-CN" sz="2000" spc="600" dirty="0">
                <a:cs typeface="+mn-ea"/>
                <a:sym typeface="+mn-lt"/>
              </a:rPr>
              <a:t>Prim</a:t>
            </a:r>
            <a:r>
              <a:rPr lang="zh-CN" altLang="en-US" sz="2000" spc="600" dirty="0">
                <a:cs typeface="+mn-ea"/>
                <a:sym typeface="+mn-lt"/>
              </a:rPr>
              <a:t>、</a:t>
            </a:r>
            <a:r>
              <a:rPr lang="en-US" altLang="zh-CN" sz="2000" spc="600" dirty="0">
                <a:cs typeface="+mn-ea"/>
                <a:sym typeface="+mn-lt"/>
              </a:rPr>
              <a:t>Kruskal</a:t>
            </a:r>
            <a:r>
              <a:rPr lang="zh-CN" altLang="en-US" sz="2000" spc="600" dirty="0">
                <a:cs typeface="+mn-ea"/>
                <a:sym typeface="+mn-lt"/>
              </a:rPr>
              <a:t>）、最短路径和长度（单源：</a:t>
            </a:r>
            <a:r>
              <a:rPr lang="en-US" altLang="zh-CN" sz="2000" spc="600" dirty="0">
                <a:cs typeface="+mn-ea"/>
                <a:sym typeface="+mn-lt"/>
              </a:rPr>
              <a:t>Dijkstra</a:t>
            </a:r>
            <a:r>
              <a:rPr lang="zh-CN" altLang="en-US" sz="2000" spc="600" dirty="0">
                <a:cs typeface="+mn-ea"/>
                <a:sym typeface="+mn-lt"/>
              </a:rPr>
              <a:t>、所有点对：</a:t>
            </a:r>
            <a:r>
              <a:rPr lang="en-US" altLang="zh-CN" sz="2000" spc="600" dirty="0">
                <a:cs typeface="+mn-ea"/>
                <a:sym typeface="+mn-lt"/>
              </a:rPr>
              <a:t>Floyd</a:t>
            </a:r>
            <a:r>
              <a:rPr lang="zh-CN" altLang="en-US" sz="2000" spc="600" dirty="0">
                <a:cs typeface="+mn-ea"/>
                <a:sym typeface="+mn-lt"/>
              </a:rPr>
              <a:t>）、拓扑排序、图的遍历与连通性</a:t>
            </a:r>
            <a:endParaRPr lang="zh-CN" altLang="en-US" sz="2000" b="1" spc="600" dirty="0">
              <a:solidFill>
                <a:schemeClr val="bg2"/>
              </a:solidFill>
              <a:cs typeface="+mn-ea"/>
              <a:sym typeface="+mn-lt"/>
            </a:endParaRPr>
          </a:p>
          <a:p>
            <a:pPr algn="l"/>
            <a:endParaRPr lang="zh-CN" altLang="en-US" sz="2400" b="1" spc="600" dirty="0">
              <a:solidFill>
                <a:schemeClr val="bg2"/>
              </a:solidFill>
              <a:cs typeface="+mn-ea"/>
              <a:sym typeface="+mn-lt"/>
            </a:endParaRPr>
          </a:p>
          <a:p>
            <a:pPr algn="l"/>
            <a:r>
              <a:rPr lang="zh-CN" altLang="en-US" sz="2400" b="1" spc="600" dirty="0">
                <a:solidFill>
                  <a:schemeClr val="bg2"/>
                </a:solidFill>
                <a:cs typeface="+mn-ea"/>
                <a:sym typeface="+mn-lt"/>
              </a:rPr>
              <a:t>算法：</a:t>
            </a:r>
            <a:endParaRPr lang="zh-CN" altLang="en-US" sz="2400" b="1" spc="600" dirty="0">
              <a:solidFill>
                <a:schemeClr val="bg2"/>
              </a:solidFill>
              <a:cs typeface="+mn-ea"/>
              <a:sym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spc="600" dirty="0">
                <a:cs typeface="+mn-ea"/>
                <a:sym typeface="+mn-lt"/>
              </a:rPr>
              <a:t>排序（选择、插入、基数、堆、快速、冒泡、归并排序等）、链表上的操作、基于树结构的操作（基BFS/DFS遍历、递归等）、动态规划、贪心</a:t>
            </a:r>
            <a:endParaRPr lang="zh-CN" altLang="en-US" sz="2000" spc="600" dirty="0">
              <a:cs typeface="+mn-ea"/>
              <a:sym typeface="+mn-lt"/>
            </a:endParaRPr>
          </a:p>
          <a:p>
            <a:pPr algn="l">
              <a:buClrTx/>
              <a:buSzTx/>
              <a:buFontTx/>
            </a:pPr>
            <a:endParaRPr lang="zh-CN" altLang="en-US" sz="2000" spc="600" dirty="0">
              <a:cs typeface="+mn-ea"/>
              <a:sym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 spc="600" dirty="0">
                <a:cs typeface="+mn-ea"/>
                <a:sym typeface="+mn-lt"/>
              </a:rPr>
              <a:t>动态规划</a:t>
            </a:r>
            <a:r>
              <a:rPr lang="zh-CN" altLang="en-US" sz="2000" spc="600" dirty="0">
                <a:cs typeface="+mn-ea"/>
                <a:sym typeface="+mn-lt"/>
              </a:rPr>
              <a:t>（背包、切割木棍、最长上升子序列、</a:t>
            </a:r>
            <a:r>
              <a:rPr lang="zh-CN" altLang="en-US" sz="2000" spc="600" dirty="0">
                <a:cs typeface="+mn-ea"/>
                <a:sym typeface="+mn-lt"/>
              </a:rPr>
              <a:t>打家劫舍、矩阵乘法</a:t>
            </a:r>
            <a:r>
              <a:rPr lang="zh-CN" altLang="en-US" sz="2000" spc="600" dirty="0">
                <a:cs typeface="+mn-ea"/>
                <a:sym typeface="+mn-lt"/>
              </a:rPr>
              <a:t>先后匹配等）</a:t>
            </a:r>
            <a:endParaRPr lang="zh-CN" altLang="en-US" sz="2000" spc="600" dirty="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Click="0" advTm="0">
        <p14:warp dir="in"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75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/>
          <p:cNvSpPr txBox="1"/>
          <p:nvPr>
            <p:custDataLst>
              <p:tags r:id="rId1"/>
            </p:custDataLst>
          </p:nvPr>
        </p:nvSpPr>
        <p:spPr>
          <a:xfrm>
            <a:off x="3424495" y="6588355"/>
            <a:ext cx="180020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lt1">
                    <a:lumMod val="50000"/>
                  </a:schemeClr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lt1">
                    <a:lumMod val="50000"/>
                  </a:schemeClr>
                </a:solidFill>
                <a:effectLst/>
                <a:uLnTx/>
                <a:uFillTx/>
              </a:rPr>
              <a:t>模板 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lt1">
                    <a:lumMod val="50000"/>
                  </a:schemeClr>
                </a:solidFill>
                <a:effectLst/>
                <a:uLnTx/>
                <a:uFillTx/>
              </a:rPr>
              <a:t>http://www.1ppt.com/moban/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lt1">
                    <a:lumMod val="50000"/>
                  </a:schemeClr>
                </a:solidFill>
                <a:effectLst/>
                <a:uLnTx/>
                <a:uFillTx/>
              </a:rPr>
              <a:t> </a:t>
            </a:r>
            <a:endParaRPr kumimoji="0" lang="zh-CN" altLang="en-US" sz="100" b="0" i="0" u="none" strike="noStrike" kern="0" cap="none" spc="0" normalizeH="0" baseline="0" noProof="0" dirty="0" smtClean="0">
              <a:ln>
                <a:noFill/>
              </a:ln>
              <a:solidFill>
                <a:schemeClr val="lt1">
                  <a:lumMod val="50000"/>
                </a:schemeClr>
              </a:solidFill>
              <a:effectLst/>
              <a:uLnTx/>
              <a:uFillTx/>
            </a:endParaRPr>
          </a:p>
        </p:txBody>
      </p:sp>
      <p:grpSp>
        <p:nvGrpSpPr>
          <p:cNvPr id="122" name="组合 121"/>
          <p:cNvGrpSpPr/>
          <p:nvPr/>
        </p:nvGrpSpPr>
        <p:grpSpPr>
          <a:xfrm>
            <a:off x="723900" y="303571"/>
            <a:ext cx="11468099" cy="583565"/>
            <a:chOff x="723900" y="303571"/>
            <a:chExt cx="11468099" cy="583565"/>
          </a:xfrm>
        </p:grpSpPr>
        <p:sp>
          <p:nvSpPr>
            <p:cNvPr id="8" name="矩形 7"/>
            <p:cNvSpPr/>
            <p:nvPr>
              <p:custDataLst>
                <p:tags r:id="rId2"/>
              </p:custDataLst>
            </p:nvPr>
          </p:nvSpPr>
          <p:spPr>
            <a:xfrm>
              <a:off x="723900" y="354013"/>
              <a:ext cx="11468099" cy="5232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cs typeface="+mn-ea"/>
                <a:sym typeface="+mn-lt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097915" y="303571"/>
              <a:ext cx="7962900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3200" b="1" spc="50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cs typeface="+mn-ea"/>
                  <a:sym typeface="+mn-lt"/>
                </a:rPr>
                <a:t>重点复习题目纲要（往年题回顾</a:t>
              </a:r>
              <a:r>
                <a:rPr lang="zh-CN" altLang="en-US" sz="3200" b="1" spc="50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cs typeface="+mn-ea"/>
                  <a:sym typeface="+mn-lt"/>
                </a:rPr>
                <a:t>对比）</a:t>
              </a:r>
              <a:endParaRPr lang="zh-CN" altLang="en-US" sz="3200" b="1" spc="50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01847" y="257072"/>
            <a:ext cx="717104" cy="717102"/>
            <a:chOff x="304800" y="673100"/>
            <a:chExt cx="4000500" cy="4000500"/>
          </a:xfrm>
          <a:effectLst>
            <a:outerShdw blurRad="444500" dist="76200" dir="8100000" algn="tr" rotWithShape="0">
              <a:schemeClr val="tx1">
                <a:lumMod val="65000"/>
                <a:lumOff val="35000"/>
                <a:alpha val="50000"/>
              </a:schemeClr>
            </a:outerShdw>
          </a:effectLst>
        </p:grpSpPr>
        <p:sp>
          <p:nvSpPr>
            <p:cNvPr id="6" name="同心圆 98"/>
            <p:cNvSpPr/>
            <p:nvPr>
              <p:custDataLst>
                <p:tags r:id="rId3"/>
              </p:custDataLst>
            </p:nvPr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rgbClr val="FFFFFF"/>
                </a:gs>
                <a:gs pos="55000">
                  <a:srgbClr val="F2F2F2">
                    <a:lumMod val="95000"/>
                  </a:srgbClr>
                </a:gs>
                <a:gs pos="100000">
                  <a:srgbClr val="A6A6A6">
                    <a:lumMod val="65000"/>
                  </a:srgbClr>
                </a:gs>
              </a:gsLst>
              <a:lin ang="8100000" scaled="0"/>
            </a:gradFill>
            <a:ln>
              <a:noFill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6830" dir="2700000" sx="0" sy="0" rotWithShape="0">
                      <a:schemeClr val="dk1">
                        <a:lumMod val="75000"/>
                        <a:lumOff val="25000"/>
                      </a:schemeClr>
                    </a:outerShdw>
                  </a:effectLst>
                </a14:hiddenEffects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 dirty="0">
                <a:solidFill>
                  <a:schemeClr val="dk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" name="椭圆 6"/>
            <p:cNvSpPr/>
            <p:nvPr>
              <p:custDataLst>
                <p:tags r:id="rId4"/>
              </p:custDataLst>
            </p:nvPr>
          </p:nvSpPr>
          <p:spPr>
            <a:xfrm>
              <a:off x="392112" y="760412"/>
              <a:ext cx="3825876" cy="3825875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1000">
                  <a:srgbClr val="F2F2F2">
                    <a:lumMod val="95000"/>
                  </a:srgbClr>
                </a:gs>
                <a:gs pos="100000">
                  <a:srgbClr val="BFBFBF">
                    <a:lumMod val="75000"/>
                  </a:srgbClr>
                </a:gs>
              </a:gsLst>
              <a:lin ang="18900000" scaled="0"/>
            </a:gradFill>
            <a:ln>
              <a:noFill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6830" dir="2700000" sx="0" sy="0" rotWithShape="0">
                      <a:schemeClr val="dk1">
                        <a:lumMod val="75000"/>
                        <a:lumOff val="25000"/>
                      </a:schemeClr>
                    </a:outerShdw>
                  </a:effectLst>
                </a14:hiddenEffects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solidFill>
                  <a:schemeClr val="dk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pic>
        <p:nvPicPr>
          <p:cNvPr id="4" name="图片 3" descr="山东大学校徽与中英文校名标准组合（横式）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1970" y="177165"/>
            <a:ext cx="2178685" cy="97091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32130" y="1034415"/>
            <a:ext cx="1148588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 spc="600" dirty="0">
                <a:cs typeface="+mn-ea"/>
                <a:sym typeface="+mn-lt"/>
              </a:rPr>
              <a:t>链接：</a:t>
            </a:r>
            <a:endParaRPr lang="zh-CN" altLang="en-US" sz="2000" b="1" spc="600" dirty="0">
              <a:cs typeface="+mn-ea"/>
              <a:sym typeface="+mn-lt"/>
            </a:endParaRPr>
          </a:p>
          <a:p>
            <a:r>
              <a:rPr lang="zh-CN" altLang="en-US" sz="1600">
                <a:sym typeface="+mn-lt"/>
              </a:rPr>
              <a:t>2022-2023：https://blog.csdn.net/soulverzz/article/details/129046862</a:t>
            </a:r>
            <a:endParaRPr lang="zh-CN" altLang="en-US" sz="1600">
              <a:sym typeface="+mn-lt"/>
            </a:endParaRPr>
          </a:p>
          <a:p>
            <a:r>
              <a:rPr lang="zh-CN" altLang="en-US" sz="1600">
                <a:sym typeface="+mn-lt"/>
              </a:rPr>
              <a:t>2021-2022：https://blog.csdn.net/xx2215058009/article/details/122276311</a:t>
            </a:r>
            <a:endParaRPr lang="zh-CN" altLang="en-US" sz="1600">
              <a:sym typeface="+mn-lt"/>
            </a:endParaRPr>
          </a:p>
        </p:txBody>
      </p:sp>
      <p:sp>
        <p:nvSpPr>
          <p:cNvPr id="21" name="矩形 20"/>
          <p:cNvSpPr/>
          <p:nvPr>
            <p:custDataLst>
              <p:tags r:id="rId6"/>
            </p:custDataLst>
          </p:nvPr>
        </p:nvSpPr>
        <p:spPr>
          <a:xfrm>
            <a:off x="317500" y="1925955"/>
            <a:ext cx="11548110" cy="4785360"/>
          </a:xfrm>
          <a:prstGeom prst="rect">
            <a:avLst/>
          </a:prstGeom>
        </p:spPr>
        <p:txBody>
          <a:bodyPr wrap="square">
            <a:noAutofit/>
          </a:bodyPr>
          <a:p>
            <a:pPr algn="l"/>
            <a:r>
              <a:rPr lang="zh-CN" altLang="en-US" sz="2400" b="1" spc="600" dirty="0">
                <a:solidFill>
                  <a:schemeClr val="bg2"/>
                </a:solidFill>
                <a:cs typeface="+mn-ea"/>
                <a:sym typeface="+mn-lt"/>
              </a:rPr>
              <a:t>线性</a:t>
            </a:r>
            <a:r>
              <a:rPr lang="zh-CN" altLang="en-US" sz="2400" b="1" spc="600" dirty="0">
                <a:solidFill>
                  <a:schemeClr val="bg2"/>
                </a:solidFill>
                <a:cs typeface="+mn-ea"/>
                <a:sym typeface="+mn-lt"/>
              </a:rPr>
              <a:t>结构：</a:t>
            </a:r>
            <a:endParaRPr lang="zh-CN" altLang="en-US" sz="2400" b="1" spc="600" dirty="0">
              <a:solidFill>
                <a:schemeClr val="bg2"/>
              </a:solidFill>
              <a:cs typeface="+mn-ea"/>
              <a:sym typeface="+mn-lt"/>
            </a:endParaRPr>
          </a:p>
          <a:p>
            <a:pPr algn="l">
              <a:buClrTx/>
              <a:buSzTx/>
              <a:buFontTx/>
            </a:pPr>
            <a:r>
              <a:rPr lang="en-US" altLang="zh-CN" sz="1900" spc="600" dirty="0">
                <a:cs typeface="+mn-ea"/>
                <a:sym typeface="+mn-lt"/>
              </a:rPr>
              <a:t>4</a:t>
            </a:r>
            <a:r>
              <a:rPr lang="zh-CN" altLang="en-US" sz="1900" spc="600" dirty="0">
                <a:cs typeface="+mn-ea"/>
                <a:sym typeface="+mn-lt"/>
              </a:rPr>
              <a:t>或</a:t>
            </a:r>
            <a:r>
              <a:rPr lang="en-US" altLang="zh-CN" sz="1900" spc="600" dirty="0">
                <a:cs typeface="+mn-ea"/>
                <a:sym typeface="+mn-lt"/>
              </a:rPr>
              <a:t>5题（</a:t>
            </a:r>
            <a:r>
              <a:rPr lang="zh-CN" altLang="en-US" sz="1900" spc="600" dirty="0">
                <a:cs typeface="+mn-ea"/>
                <a:sym typeface="+mn-lt"/>
              </a:rPr>
              <a:t>排序模拟</a:t>
            </a:r>
            <a:r>
              <a:rPr lang="en-US" altLang="zh-CN" sz="1900" spc="600" dirty="0">
                <a:cs typeface="+mn-ea"/>
                <a:sym typeface="+mn-lt"/>
              </a:rPr>
              <a:t>+</a:t>
            </a:r>
            <a:r>
              <a:rPr lang="zh-CN" altLang="en-US" sz="1900" spc="600" dirty="0">
                <a:cs typeface="+mn-ea"/>
                <a:sym typeface="+mn-lt"/>
              </a:rPr>
              <a:t>数组存储</a:t>
            </a:r>
            <a:r>
              <a:rPr lang="en-US" altLang="zh-CN" sz="1900" spc="600" dirty="0">
                <a:cs typeface="+mn-ea"/>
                <a:sym typeface="+mn-lt"/>
              </a:rPr>
              <a:t>+</a:t>
            </a:r>
            <a:r>
              <a:rPr lang="zh-CN" altLang="en-US" sz="1900" spc="600" dirty="0">
                <a:cs typeface="+mn-ea"/>
                <a:sym typeface="+mn-lt"/>
              </a:rPr>
              <a:t>数据结构对比简答</a:t>
            </a:r>
            <a:r>
              <a:rPr lang="en-US" altLang="zh-CN" sz="1900" spc="600" dirty="0">
                <a:cs typeface="+mn-ea"/>
                <a:sym typeface="+mn-lt"/>
              </a:rPr>
              <a:t>+</a:t>
            </a:r>
            <a:r>
              <a:rPr lang="zh-CN" altLang="en-US" sz="1900" spc="600" dirty="0">
                <a:cs typeface="+mn-ea"/>
                <a:sym typeface="+mn-lt"/>
              </a:rPr>
              <a:t>程序片段复杂度分析</a:t>
            </a:r>
            <a:r>
              <a:rPr lang="en-US" altLang="zh-CN" sz="1900" spc="600" dirty="0">
                <a:cs typeface="+mn-ea"/>
                <a:sym typeface="+mn-lt"/>
              </a:rPr>
              <a:t>+</a:t>
            </a:r>
            <a:r>
              <a:rPr lang="zh-CN" altLang="en-US" sz="1900" spc="600" dirty="0">
                <a:cs typeface="+mn-ea"/>
                <a:sym typeface="+mn-lt"/>
              </a:rPr>
              <a:t>数组映射</a:t>
            </a:r>
            <a:r>
              <a:rPr lang="en-US" altLang="zh-CN" sz="1900" spc="600" dirty="0">
                <a:cs typeface="+mn-ea"/>
                <a:sym typeface="+mn-lt"/>
              </a:rPr>
              <a:t>+</a:t>
            </a:r>
            <a:r>
              <a:rPr lang="zh-CN" altLang="en-US" sz="1900" spc="600" dirty="0">
                <a:cs typeface="+mn-ea"/>
                <a:sym typeface="+mn-lt"/>
              </a:rPr>
              <a:t>堆栈性质</a:t>
            </a:r>
            <a:r>
              <a:rPr lang="en-US" altLang="zh-CN" sz="1900" spc="600" dirty="0">
                <a:cs typeface="+mn-ea"/>
                <a:sym typeface="+mn-lt"/>
              </a:rPr>
              <a:t>）</a:t>
            </a:r>
            <a:r>
              <a:rPr lang="zh-CN" altLang="en-US" sz="1900" spc="600" dirty="0">
                <a:cs typeface="+mn-ea"/>
                <a:sym typeface="+mn-lt"/>
              </a:rPr>
              <a:t>【没涉及的但前几年有的：</a:t>
            </a:r>
            <a:r>
              <a:rPr lang="en-US" altLang="zh-CN" sz="1900" spc="600" dirty="0">
                <a:cs typeface="+mn-ea"/>
                <a:sym typeface="+mn-lt"/>
              </a:rPr>
              <a:t>hash</a:t>
            </a:r>
            <a:r>
              <a:rPr lang="zh-CN" altLang="en-US" sz="1900" spc="600" dirty="0">
                <a:cs typeface="+mn-ea"/>
                <a:sym typeface="+mn-lt"/>
              </a:rPr>
              <a:t>映射存储】</a:t>
            </a:r>
            <a:endParaRPr lang="en-US" altLang="zh-CN" sz="1900" spc="600" dirty="0">
              <a:cs typeface="+mn-ea"/>
              <a:sym typeface="+mn-lt"/>
            </a:endParaRPr>
          </a:p>
          <a:p>
            <a:pPr algn="l">
              <a:buClrTx/>
              <a:buSzTx/>
              <a:buFontTx/>
            </a:pPr>
            <a:endParaRPr lang="zh-CN" altLang="en-US" sz="2400" b="1" spc="600" dirty="0">
              <a:solidFill>
                <a:schemeClr val="bg2"/>
              </a:solidFill>
              <a:cs typeface="+mn-ea"/>
              <a:sym typeface="+mn-lt"/>
            </a:endParaRPr>
          </a:p>
          <a:p>
            <a:pPr algn="l"/>
            <a:r>
              <a:rPr lang="zh-CN" altLang="en-US" sz="2400" b="1" spc="600" dirty="0">
                <a:solidFill>
                  <a:schemeClr val="bg2"/>
                </a:solidFill>
                <a:cs typeface="+mn-ea"/>
                <a:sym typeface="+mn-lt"/>
              </a:rPr>
              <a:t>层次</a:t>
            </a:r>
            <a:r>
              <a:rPr lang="zh-CN" altLang="en-US" sz="2400" b="1" spc="600" dirty="0">
                <a:solidFill>
                  <a:schemeClr val="bg2"/>
                </a:solidFill>
                <a:cs typeface="+mn-ea"/>
                <a:sym typeface="+mn-lt"/>
              </a:rPr>
              <a:t>结构：</a:t>
            </a:r>
            <a:endParaRPr lang="zh-CN" altLang="en-US" sz="2400" b="1" spc="600" dirty="0">
              <a:solidFill>
                <a:schemeClr val="bg2"/>
              </a:solidFill>
              <a:cs typeface="+mn-ea"/>
              <a:sym typeface="+mn-lt"/>
            </a:endParaRPr>
          </a:p>
          <a:p>
            <a:pPr algn="l">
              <a:buClrTx/>
              <a:buSzTx/>
              <a:buFontTx/>
            </a:pPr>
            <a:r>
              <a:rPr lang="en-US" altLang="zh-CN" sz="1900" spc="600" dirty="0">
                <a:cs typeface="+mn-ea"/>
                <a:sym typeface="+mn-lt"/>
              </a:rPr>
              <a:t>4题（树的遍历（给定两个序列，写出另一个），霍夫曼树构造、堆的初始化、判定和删除等性质或操作、树的定义和计算、B树插入、删除思想、二叉树搜索等思想和伪代码）</a:t>
            </a:r>
            <a:r>
              <a:rPr lang="en-US" altLang="zh-CN" sz="1900" spc="600" dirty="0">
                <a:cs typeface="+mn-ea"/>
                <a:sym typeface="+mn-lt"/>
              </a:rPr>
              <a:t>【没涉及的但前几年有的：B树操作后结果、AVL树操作和思想】</a:t>
            </a:r>
            <a:endParaRPr lang="en-US" altLang="zh-CN" sz="1900" spc="600" dirty="0">
              <a:cs typeface="+mn-ea"/>
              <a:sym typeface="+mn-lt"/>
            </a:endParaRPr>
          </a:p>
          <a:p>
            <a:pPr algn="l">
              <a:buClrTx/>
              <a:buSzTx/>
              <a:buFontTx/>
            </a:pPr>
            <a:endParaRPr lang="zh-CN" altLang="en-US" sz="2400" spc="600" dirty="0">
              <a:cs typeface="+mn-ea"/>
              <a:sym typeface="+mn-lt"/>
            </a:endParaRPr>
          </a:p>
          <a:p>
            <a:pPr algn="l"/>
            <a:r>
              <a:rPr lang="zh-CN" altLang="en-US" sz="2400" b="1" spc="600" dirty="0">
                <a:solidFill>
                  <a:schemeClr val="bg2"/>
                </a:solidFill>
                <a:cs typeface="+mn-ea"/>
                <a:sym typeface="+mn-lt"/>
              </a:rPr>
              <a:t>网状</a:t>
            </a:r>
            <a:r>
              <a:rPr lang="zh-CN" altLang="en-US" sz="2400" b="1" spc="600" dirty="0">
                <a:solidFill>
                  <a:schemeClr val="bg2"/>
                </a:solidFill>
                <a:cs typeface="+mn-ea"/>
                <a:sym typeface="+mn-lt"/>
              </a:rPr>
              <a:t>结构：</a:t>
            </a:r>
            <a:endParaRPr lang="zh-CN" altLang="en-US" sz="2400" b="1" spc="600" dirty="0">
              <a:solidFill>
                <a:schemeClr val="bg2"/>
              </a:solidFill>
              <a:cs typeface="+mn-ea"/>
              <a:sym typeface="+mn-lt"/>
            </a:endParaRPr>
          </a:p>
          <a:p>
            <a:pPr algn="l"/>
            <a:r>
              <a:rPr lang="zh-CN" altLang="en-US" sz="1900" spc="600" dirty="0">
                <a:cs typeface="+mn-ea"/>
                <a:sym typeface="+mn-lt"/>
              </a:rPr>
              <a:t>3题（最小生成树+拓扑和最短路径+图的遍历和连通性）</a:t>
            </a:r>
            <a:endParaRPr lang="zh-CN" altLang="en-US" sz="1900" spc="600" dirty="0">
              <a:cs typeface="+mn-ea"/>
              <a:sym typeface="+mn-lt"/>
            </a:endParaRPr>
          </a:p>
          <a:p>
            <a:pPr algn="l"/>
            <a:endParaRPr lang="zh-CN" altLang="en-US" sz="2400" b="1" spc="600" dirty="0">
              <a:solidFill>
                <a:schemeClr val="bg2"/>
              </a:solidFill>
              <a:cs typeface="+mn-ea"/>
              <a:sym typeface="+mn-lt"/>
            </a:endParaRPr>
          </a:p>
          <a:p>
            <a:pPr algn="l"/>
            <a:r>
              <a:rPr lang="zh-CN" altLang="en-US" sz="2400" b="1" spc="600" dirty="0">
                <a:solidFill>
                  <a:schemeClr val="bg2"/>
                </a:solidFill>
                <a:cs typeface="+mn-ea"/>
                <a:sym typeface="+mn-lt"/>
              </a:rPr>
              <a:t>算法：</a:t>
            </a:r>
            <a:endParaRPr lang="zh-CN" altLang="en-US" sz="2400" b="1" spc="600" dirty="0">
              <a:solidFill>
                <a:schemeClr val="bg2"/>
              </a:solidFill>
              <a:cs typeface="+mn-ea"/>
              <a:sym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1900" spc="600" dirty="0">
                <a:cs typeface="+mn-ea"/>
                <a:sym typeface="+mn-lt"/>
              </a:rPr>
              <a:t>2题（其中之一为动态规划/贪心）</a:t>
            </a:r>
            <a:endParaRPr lang="zh-CN" altLang="en-US" sz="1900" spc="600" dirty="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Click="0" advTm="0">
        <p14:warp dir="in"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75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组合 121"/>
          <p:cNvGrpSpPr/>
          <p:nvPr/>
        </p:nvGrpSpPr>
        <p:grpSpPr>
          <a:xfrm>
            <a:off x="723900" y="303571"/>
            <a:ext cx="11468099" cy="583565"/>
            <a:chOff x="723900" y="303571"/>
            <a:chExt cx="11468099" cy="583565"/>
          </a:xfrm>
        </p:grpSpPr>
        <p:sp>
          <p:nvSpPr>
            <p:cNvPr id="8" name="矩形 7"/>
            <p:cNvSpPr/>
            <p:nvPr>
              <p:custDataLst>
                <p:tags r:id="rId1"/>
              </p:custDataLst>
            </p:nvPr>
          </p:nvSpPr>
          <p:spPr>
            <a:xfrm>
              <a:off x="723900" y="354013"/>
              <a:ext cx="11468099" cy="5232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cs typeface="+mn-ea"/>
                <a:sym typeface="+mn-lt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097915" y="303571"/>
              <a:ext cx="6120130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3200" b="1" spc="50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cs typeface="+mn-ea"/>
                  <a:sym typeface="+mn-lt"/>
                </a:rPr>
                <a:t>难点和</a:t>
              </a:r>
              <a:r>
                <a:rPr lang="zh-CN" altLang="en-US" sz="3200" b="1" spc="50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cs typeface="+mn-ea"/>
                  <a:sym typeface="+mn-lt"/>
                </a:rPr>
                <a:t>应对方式</a:t>
              </a:r>
              <a:endParaRPr lang="zh-CN" altLang="en-US" sz="3200" b="1" spc="50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01847" y="257072"/>
            <a:ext cx="717104" cy="717102"/>
            <a:chOff x="304800" y="673100"/>
            <a:chExt cx="4000500" cy="4000500"/>
          </a:xfrm>
          <a:effectLst>
            <a:outerShdw blurRad="444500" dist="76200" dir="8100000" algn="tr" rotWithShape="0">
              <a:schemeClr val="tx1">
                <a:lumMod val="65000"/>
                <a:lumOff val="35000"/>
                <a:alpha val="50000"/>
              </a:schemeClr>
            </a:outerShdw>
          </a:effectLst>
        </p:grpSpPr>
        <p:sp>
          <p:nvSpPr>
            <p:cNvPr id="6" name="同心圆 98"/>
            <p:cNvSpPr/>
            <p:nvPr>
              <p:custDataLst>
                <p:tags r:id="rId2"/>
              </p:custDataLst>
            </p:nvPr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rgbClr val="FFFFFF"/>
                </a:gs>
                <a:gs pos="55000">
                  <a:srgbClr val="F2F2F2">
                    <a:lumMod val="95000"/>
                  </a:srgbClr>
                </a:gs>
                <a:gs pos="100000">
                  <a:srgbClr val="A6A6A6">
                    <a:lumMod val="65000"/>
                  </a:srgbClr>
                </a:gs>
              </a:gsLst>
              <a:lin ang="8100000" scaled="0"/>
            </a:gradFill>
            <a:ln>
              <a:noFill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6830" dir="2700000" sx="0" sy="0" rotWithShape="0">
                      <a:schemeClr val="dk1">
                        <a:lumMod val="75000"/>
                        <a:lumOff val="25000"/>
                      </a:schemeClr>
                    </a:outerShdw>
                  </a:effectLst>
                </a14:hiddenEffects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 dirty="0">
                <a:solidFill>
                  <a:schemeClr val="dk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" name="椭圆 6"/>
            <p:cNvSpPr/>
            <p:nvPr>
              <p:custDataLst>
                <p:tags r:id="rId3"/>
              </p:custDataLst>
            </p:nvPr>
          </p:nvSpPr>
          <p:spPr>
            <a:xfrm>
              <a:off x="392112" y="760412"/>
              <a:ext cx="3825876" cy="3825875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1000">
                  <a:srgbClr val="F2F2F2">
                    <a:lumMod val="95000"/>
                  </a:srgbClr>
                </a:gs>
                <a:gs pos="100000">
                  <a:srgbClr val="BFBFBF">
                    <a:lumMod val="75000"/>
                  </a:srgbClr>
                </a:gs>
              </a:gsLst>
              <a:lin ang="18900000" scaled="0"/>
            </a:gradFill>
            <a:ln>
              <a:noFill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6830" dir="2700000" sx="0" sy="0" rotWithShape="0">
                      <a:schemeClr val="dk1">
                        <a:lumMod val="75000"/>
                        <a:lumOff val="25000"/>
                      </a:schemeClr>
                    </a:outerShdw>
                  </a:effectLst>
                </a14:hiddenEffects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solidFill>
                  <a:schemeClr val="dk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pic>
        <p:nvPicPr>
          <p:cNvPr id="4" name="图片 3" descr="山东大学校徽与中英文校名标准组合（横式）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1970" y="177165"/>
            <a:ext cx="2178685" cy="970915"/>
          </a:xfrm>
          <a:prstGeom prst="rect">
            <a:avLst/>
          </a:prstGeom>
        </p:spPr>
      </p:pic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808355" y="1459865"/>
            <a:ext cx="10919460" cy="47078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 spc="600" dirty="0">
                <a:solidFill>
                  <a:schemeClr val="bg2"/>
                </a:solidFill>
                <a:highlight>
                  <a:srgbClr val="FFFF00"/>
                </a:highlight>
                <a:cs typeface="+mn-ea"/>
                <a:sym typeface="+mn-lt"/>
              </a:rPr>
              <a:t>重点的算法思想、伪代码、时间复杂度：</a:t>
            </a:r>
            <a:endParaRPr lang="zh-CN" altLang="en-US" sz="2000" spc="600" dirty="0">
              <a:cs typeface="+mn-ea"/>
              <a:sym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spc="600" dirty="0">
                <a:cs typeface="+mn-ea"/>
                <a:sym typeface="+mn-lt"/>
              </a:rPr>
              <a:t>复杂度背下来，算法思想能理解则理解，理解不了背过（关键步，如</a:t>
            </a:r>
            <a:r>
              <a:rPr lang="en-US" altLang="zh-CN" sz="2000" spc="600" dirty="0">
                <a:cs typeface="+mn-ea"/>
                <a:sym typeface="+mn-lt"/>
              </a:rPr>
              <a:t>dijkstra</a:t>
            </a:r>
            <a:r>
              <a:rPr lang="zh-CN" altLang="en-US" sz="2000" spc="600" dirty="0">
                <a:cs typeface="+mn-ea"/>
                <a:sym typeface="+mn-lt"/>
              </a:rPr>
              <a:t>的迭代更新</a:t>
            </a:r>
            <a:r>
              <a:rPr lang="zh-CN" altLang="en-US" sz="2000" spc="600" dirty="0">
                <a:cs typeface="+mn-ea"/>
                <a:sym typeface="+mn-lt"/>
              </a:rPr>
              <a:t>的一行代码）</a:t>
            </a:r>
            <a:endParaRPr lang="zh-CN" altLang="en-US" sz="2000" spc="600" dirty="0">
              <a:cs typeface="+mn-ea"/>
              <a:sym typeface="+mn-lt"/>
            </a:endParaRPr>
          </a:p>
          <a:p>
            <a:endParaRPr lang="zh-CN" altLang="en-US" sz="2000" spc="600" dirty="0">
              <a:cs typeface="+mn-ea"/>
              <a:sym typeface="+mn-lt"/>
            </a:endParaRPr>
          </a:p>
          <a:p>
            <a:pPr algn="l">
              <a:buClrTx/>
              <a:buSzTx/>
              <a:buFontTx/>
            </a:pPr>
            <a:endParaRPr lang="zh-CN" altLang="en-US" sz="2400" b="1" spc="600" dirty="0">
              <a:solidFill>
                <a:schemeClr val="bg2"/>
              </a:solidFill>
              <a:highlight>
                <a:srgbClr val="FFFF00"/>
              </a:highlight>
              <a:cs typeface="+mn-ea"/>
              <a:sym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400" b="1" spc="600" dirty="0">
                <a:solidFill>
                  <a:schemeClr val="bg2"/>
                </a:solidFill>
                <a:highlight>
                  <a:srgbClr val="FFFF00"/>
                </a:highlight>
                <a:cs typeface="+mn-ea"/>
                <a:sym typeface="+mn-lt"/>
              </a:rPr>
              <a:t>动态规划、贪心</a:t>
            </a:r>
            <a:r>
              <a:rPr lang="zh-CN" altLang="en-US" sz="2400" b="1" spc="600" dirty="0">
                <a:solidFill>
                  <a:schemeClr val="bg2"/>
                </a:solidFill>
                <a:highlight>
                  <a:srgbClr val="FFFF00"/>
                </a:highlight>
                <a:cs typeface="+mn-ea"/>
                <a:sym typeface="+mn-lt"/>
              </a:rPr>
              <a:t>编程题：</a:t>
            </a:r>
            <a:endParaRPr lang="zh-CN" altLang="en-US" sz="2000" spc="600" dirty="0">
              <a:cs typeface="+mn-ea"/>
              <a:sym typeface="+mn-lt"/>
            </a:endParaRPr>
          </a:p>
          <a:p>
            <a:r>
              <a:rPr lang="zh-CN" altLang="en-US" sz="2000" spc="600" dirty="0">
                <a:cs typeface="+mn-ea"/>
                <a:sym typeface="+mn-lt"/>
              </a:rPr>
              <a:t>找一些入门级题即可，弄清楚状态转移方程和贪心思路，不一定刷力扣，掌握好思想即可</a:t>
            </a:r>
            <a:endParaRPr lang="zh-CN" altLang="en-US" sz="2000" spc="600" dirty="0">
              <a:cs typeface="+mn-ea"/>
              <a:sym typeface="+mn-lt"/>
            </a:endParaRPr>
          </a:p>
          <a:p>
            <a:endParaRPr lang="zh-CN" altLang="en-US" sz="2000" spc="600" dirty="0">
              <a:cs typeface="+mn-ea"/>
              <a:sym typeface="+mn-lt"/>
            </a:endParaRPr>
          </a:p>
          <a:p>
            <a:endParaRPr lang="zh-CN" altLang="en-US" sz="2000" spc="600" dirty="0">
              <a:cs typeface="+mn-ea"/>
              <a:sym typeface="+mn-lt"/>
            </a:endParaRPr>
          </a:p>
          <a:p>
            <a:r>
              <a:rPr lang="zh-CN" altLang="en-US" sz="2400" b="1" spc="600" dirty="0">
                <a:solidFill>
                  <a:schemeClr val="bg2"/>
                </a:solidFill>
                <a:highlight>
                  <a:srgbClr val="FFFF00"/>
                </a:highlight>
                <a:cs typeface="+mn-ea"/>
                <a:sym typeface="+mn-lt"/>
              </a:rPr>
              <a:t>树结构编程题：</a:t>
            </a:r>
            <a:endParaRPr lang="zh-CN" altLang="en-US" sz="2000" spc="600" dirty="0">
              <a:cs typeface="+mn-ea"/>
              <a:sym typeface="+mn-lt"/>
            </a:endParaRPr>
          </a:p>
          <a:p>
            <a:r>
              <a:rPr lang="zh-CN" altLang="en-US" sz="2000" spc="600" dirty="0">
                <a:cs typeface="+mn-ea"/>
                <a:sym typeface="+mn-lt"/>
              </a:rPr>
              <a:t>根据基础算法（BFS/DFS遍历）改，</a:t>
            </a:r>
            <a:r>
              <a:rPr lang="zh-CN" altLang="en-US" sz="2000" spc="600" dirty="0">
                <a:cs typeface="+mn-ea"/>
                <a:sym typeface="+mn-lt"/>
              </a:rPr>
              <a:t>补充</a:t>
            </a:r>
            <a:endParaRPr lang="zh-CN" altLang="en-US" sz="2000" spc="600" dirty="0">
              <a:cs typeface="+mn-ea"/>
              <a:sym typeface="+mn-lt"/>
            </a:endParaRPr>
          </a:p>
          <a:p>
            <a:endParaRPr lang="zh-CN" altLang="en-US" sz="2000" spc="600" dirty="0">
              <a:cs typeface="+mn-ea"/>
              <a:sym typeface="+mn-lt"/>
            </a:endParaRPr>
          </a:p>
          <a:p>
            <a:r>
              <a:rPr lang="zh-CN" altLang="en-US" sz="2400" b="1" spc="600" dirty="0">
                <a:solidFill>
                  <a:schemeClr val="bg2"/>
                </a:solidFill>
                <a:highlight>
                  <a:srgbClr val="FFFF00"/>
                </a:highlight>
                <a:cs typeface="+mn-ea"/>
                <a:sym typeface="+mn-lt"/>
              </a:rPr>
              <a:t>其他？</a:t>
            </a:r>
            <a:endParaRPr lang="zh-CN" altLang="en-US" sz="2400" b="1" spc="600" dirty="0">
              <a:solidFill>
                <a:schemeClr val="bg2"/>
              </a:solidFill>
              <a:highlight>
                <a:srgbClr val="FFFF00"/>
              </a:highlight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Click="0" advTm="0">
        <p14:warp dir="in"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75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5"/>
          <p:cNvSpPr/>
          <p:nvPr>
            <p:custDataLst>
              <p:tags r:id="rId1"/>
            </p:custDataLst>
          </p:nvPr>
        </p:nvSpPr>
        <p:spPr>
          <a:xfrm>
            <a:off x="0" y="3570514"/>
            <a:ext cx="3381829" cy="3287486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7" name="等腰三角形 6"/>
          <p:cNvSpPr/>
          <p:nvPr>
            <p:custDataLst>
              <p:tags r:id="rId2"/>
            </p:custDataLst>
          </p:nvPr>
        </p:nvSpPr>
        <p:spPr>
          <a:xfrm rot="10800000">
            <a:off x="8810171" y="0"/>
            <a:ext cx="3381829" cy="3287486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8" name="任意多边形: 形状 7"/>
          <p:cNvSpPr/>
          <p:nvPr>
            <p:custDataLst>
              <p:tags r:id="rId3"/>
            </p:custDataLst>
          </p:nvPr>
        </p:nvSpPr>
        <p:spPr>
          <a:xfrm>
            <a:off x="-24311" y="2155666"/>
            <a:ext cx="3505200" cy="4660900"/>
          </a:xfrm>
          <a:custGeom>
            <a:avLst/>
            <a:gdLst>
              <a:gd name="connsiteX0" fmla="*/ 0 w 3505200"/>
              <a:gd name="connsiteY0" fmla="*/ 0 h 4660900"/>
              <a:gd name="connsiteX1" fmla="*/ 3505200 w 3505200"/>
              <a:gd name="connsiteY1" fmla="*/ 3505200 h 4660900"/>
              <a:gd name="connsiteX2" fmla="*/ 2324100 w 3505200"/>
              <a:gd name="connsiteY2" fmla="*/ 4660900 h 466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05200" h="4660900">
                <a:moveTo>
                  <a:pt x="0" y="0"/>
                </a:moveTo>
                <a:lnTo>
                  <a:pt x="3505200" y="3505200"/>
                </a:lnTo>
                <a:lnTo>
                  <a:pt x="2324100" y="4660900"/>
                </a:lnTo>
              </a:path>
            </a:pathLst>
          </a:custGeom>
          <a:noFill/>
          <a:ln w="12700">
            <a:solidFill>
              <a:srgbClr val="92888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9" name="任意多边形: 形状 8"/>
          <p:cNvSpPr/>
          <p:nvPr>
            <p:custDataLst>
              <p:tags r:id="rId4"/>
            </p:custDataLst>
          </p:nvPr>
        </p:nvSpPr>
        <p:spPr>
          <a:xfrm>
            <a:off x="5330823" y="-25400"/>
            <a:ext cx="1536700" cy="774700"/>
          </a:xfrm>
          <a:custGeom>
            <a:avLst/>
            <a:gdLst>
              <a:gd name="connsiteX0" fmla="*/ 0 w 1498600"/>
              <a:gd name="connsiteY0" fmla="*/ 0 h 749300"/>
              <a:gd name="connsiteX1" fmla="*/ 762000 w 1498600"/>
              <a:gd name="connsiteY1" fmla="*/ 749300 h 749300"/>
              <a:gd name="connsiteX2" fmla="*/ 1498600 w 1498600"/>
              <a:gd name="connsiteY2" fmla="*/ 12700 h 749300"/>
              <a:gd name="connsiteX0-1" fmla="*/ 0 w 1536700"/>
              <a:gd name="connsiteY0-2" fmla="*/ 25400 h 774700"/>
              <a:gd name="connsiteX1-3" fmla="*/ 762000 w 1536700"/>
              <a:gd name="connsiteY1-4" fmla="*/ 774700 h 774700"/>
              <a:gd name="connsiteX2-5" fmla="*/ 1536700 w 1536700"/>
              <a:gd name="connsiteY2-6" fmla="*/ 0 h 7747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536700" h="774700">
                <a:moveTo>
                  <a:pt x="0" y="25400"/>
                </a:moveTo>
                <a:lnTo>
                  <a:pt x="762000" y="774700"/>
                </a:lnTo>
                <a:lnTo>
                  <a:pt x="1536700" y="0"/>
                </a:lnTo>
              </a:path>
            </a:pathLst>
          </a:custGeom>
          <a:noFill/>
          <a:ln w="12700">
            <a:solidFill>
              <a:srgbClr val="92888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10" name="任意多边形: 形状 9"/>
          <p:cNvSpPr/>
          <p:nvPr>
            <p:custDataLst>
              <p:tags r:id="rId5"/>
            </p:custDataLst>
          </p:nvPr>
        </p:nvSpPr>
        <p:spPr>
          <a:xfrm>
            <a:off x="8458200" y="3797300"/>
            <a:ext cx="3048000" cy="3022600"/>
          </a:xfrm>
          <a:custGeom>
            <a:avLst/>
            <a:gdLst>
              <a:gd name="connsiteX0" fmla="*/ 3048000 w 3048000"/>
              <a:gd name="connsiteY0" fmla="*/ 0 h 3022600"/>
              <a:gd name="connsiteX1" fmla="*/ 0 w 3048000"/>
              <a:gd name="connsiteY1" fmla="*/ 3022600 h 302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48000" h="3022600">
                <a:moveTo>
                  <a:pt x="3048000" y="0"/>
                </a:moveTo>
                <a:lnTo>
                  <a:pt x="0" y="3022600"/>
                </a:lnTo>
              </a:path>
            </a:pathLst>
          </a:custGeom>
          <a:noFill/>
          <a:ln w="12700">
            <a:solidFill>
              <a:srgbClr val="92888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11" name="任意多边形: 形状 10"/>
          <p:cNvSpPr/>
          <p:nvPr>
            <p:custDataLst>
              <p:tags r:id="rId6"/>
            </p:custDataLst>
          </p:nvPr>
        </p:nvSpPr>
        <p:spPr>
          <a:xfrm>
            <a:off x="9423400" y="5041900"/>
            <a:ext cx="1816100" cy="1803400"/>
          </a:xfrm>
          <a:custGeom>
            <a:avLst/>
            <a:gdLst>
              <a:gd name="connsiteX0" fmla="*/ 0 w 1816100"/>
              <a:gd name="connsiteY0" fmla="*/ 0 h 1803400"/>
              <a:gd name="connsiteX1" fmla="*/ 1816100 w 1816100"/>
              <a:gd name="connsiteY1" fmla="*/ 1803400 h 180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16100" h="1803400">
                <a:moveTo>
                  <a:pt x="0" y="0"/>
                </a:moveTo>
                <a:lnTo>
                  <a:pt x="1816100" y="1803400"/>
                </a:lnTo>
              </a:path>
            </a:pathLst>
          </a:custGeom>
          <a:noFill/>
          <a:ln w="12700">
            <a:solidFill>
              <a:srgbClr val="92888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12" name="任意多边形: 形状 11"/>
          <p:cNvSpPr/>
          <p:nvPr>
            <p:custDataLst>
              <p:tags r:id="rId7"/>
            </p:custDataLst>
          </p:nvPr>
        </p:nvSpPr>
        <p:spPr>
          <a:xfrm>
            <a:off x="10401300" y="1905000"/>
            <a:ext cx="1790700" cy="3543300"/>
          </a:xfrm>
          <a:custGeom>
            <a:avLst/>
            <a:gdLst>
              <a:gd name="connsiteX0" fmla="*/ 1778000 w 1790700"/>
              <a:gd name="connsiteY0" fmla="*/ 0 h 3543300"/>
              <a:gd name="connsiteX1" fmla="*/ 0 w 1790700"/>
              <a:gd name="connsiteY1" fmla="*/ 1765300 h 3543300"/>
              <a:gd name="connsiteX2" fmla="*/ 1790700 w 1790700"/>
              <a:gd name="connsiteY2" fmla="*/ 3543300 h 3543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90700" h="3543300">
                <a:moveTo>
                  <a:pt x="1778000" y="0"/>
                </a:moveTo>
                <a:lnTo>
                  <a:pt x="0" y="1765300"/>
                </a:lnTo>
                <a:lnTo>
                  <a:pt x="1790700" y="3543300"/>
                </a:lnTo>
              </a:path>
            </a:pathLst>
          </a:custGeom>
          <a:noFill/>
          <a:ln w="12700">
            <a:solidFill>
              <a:srgbClr val="92888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13" name="标题 1"/>
          <p:cNvSpPr txBox="1"/>
          <p:nvPr/>
        </p:nvSpPr>
        <p:spPr>
          <a:xfrm>
            <a:off x="2304415" y="2766263"/>
            <a:ext cx="75819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7200" spc="600" dirty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Q&amp;A</a:t>
            </a:r>
            <a:endParaRPr lang="en-US" altLang="zh-CN" sz="7200" spc="600" dirty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5" name="图片 4" descr="山东大学校徽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24500" y="1299210"/>
            <a:ext cx="1142365" cy="11391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>
        <p14:window dir="vert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/>
      </p:par>
    </p:tnLst>
    <p:bldLst>
      <p:bldP spid="6" grpId="0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/>
    </p:bldLst>
  </p:timing>
</p:sld>
</file>

<file path=ppt/tags/tag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8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9.xml><?xml version="1.0" encoding="utf-8"?>
<p:tagLst xmlns:p="http://schemas.openxmlformats.org/presentationml/2006/main">
  <p:tag name="KSO_WM_UNIT_TEXT_FILL_FORE_SCHEMECOLOR_INDEX_BRIGHTNESS" val="0.35"/>
  <p:tag name="KSO_WM_UNIT_TEXT_FILL_FORE_SCHEMECOLOR_INDEX" val="13"/>
  <p:tag name="KSO_WM_UNIT_TEXT_FILL_TYPE" val="1"/>
</p:tagLst>
</file>

<file path=ppt/tags/tag10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2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"/>
  <p:tag name="KSO_WM_UNIT_FILL_FORE_SCHEMECOLOR_INDEX_2_BRIGHTNESS" val="-0.05"/>
  <p:tag name="KSO_WM_UNIT_FILL_FORE_SCHEMECOLOR_INDEX_2" val="14"/>
  <p:tag name="KSO_WM_UNIT_FILL_FORE_SCHEMECOLOR_INDEX_2_POS" val="0.55"/>
  <p:tag name="KSO_WM_UNIT_FILL_FORE_SCHEMECOLOR_INDEX_2_TRANS" val="0"/>
  <p:tag name="KSO_WM_UNIT_FILL_FORE_SCHEMECOLOR_INDEX_3_BRIGHTNESS" val="-0.35"/>
  <p:tag name="KSO_WM_UNIT_FILL_FORE_SCHEMECOLOR_INDEX_3" val="14"/>
  <p:tag name="KSO_WM_UNIT_FILL_FORE_SCHEMECOLOR_INDEX_3_POS" val="1"/>
  <p:tag name="KSO_WM_UNIT_FILL_FORE_SCHEMECOLOR_INDEX_3_TRANS" val="0"/>
  <p:tag name="KSO_WM_UNIT_FILL_GRADIENT_TYPE" val="0"/>
  <p:tag name="KSO_WM_UNIT_FILL_GRADIENT_ANGLE" val="135"/>
  <p:tag name="KSO_WM_UNIT_FILL_GRADIENT_Direction" val="2"/>
  <p:tag name="KSO_WM_UNIT_FILL_TYPE" val="3"/>
  <p:tag name="KSO_WM_UNIT_SHADOW_SCHEMECOLOR_INDEX_BRIGHTNESS" val="0.35"/>
  <p:tag name="KSO_WM_UNIT_SHADOW_SCHEMECOLOR_INDEX" val="13"/>
  <p:tag name="KSO_WM_UNIT_TEXT_FILL_FORE_SCHEMECOLOR_INDEX_BRIGHTNESS" val="0.25"/>
  <p:tag name="KSO_WM_UNIT_TEXT_FILL_FORE_SCHEMECOLOR_INDEX" val="13"/>
  <p:tag name="KSO_WM_UNIT_TEXT_FILL_TYPE" val="1"/>
</p:tagLst>
</file>

<file path=ppt/tags/tag13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"/>
  <p:tag name="KSO_WM_UNIT_FILL_FORE_SCHEMECOLOR_INDEX_2_BRIGHTNESS" val="-0.05"/>
  <p:tag name="KSO_WM_UNIT_FILL_FORE_SCHEMECOLOR_INDEX_2" val="14"/>
  <p:tag name="KSO_WM_UNIT_FILL_FORE_SCHEMECOLOR_INDEX_2_POS" val="0.51"/>
  <p:tag name="KSO_WM_UNIT_FILL_FORE_SCHEMECOLOR_INDEX_2_TRANS" val="0"/>
  <p:tag name="KSO_WM_UNIT_FILL_FORE_SCHEMECOLOR_INDEX_3_BRIGHTNESS" val="-0.25"/>
  <p:tag name="KSO_WM_UNIT_FILL_FORE_SCHEMECOLOR_INDEX_3" val="14"/>
  <p:tag name="KSO_WM_UNIT_FILL_FORE_SCHEMECOLOR_INDEX_3_POS" val="1"/>
  <p:tag name="KSO_WM_UNIT_FILL_FORE_SCHEMECOLOR_INDEX_3_TRANS" val="0"/>
  <p:tag name="KSO_WM_UNIT_FILL_GRADIENT_TYPE" val="0"/>
  <p:tag name="KSO_WM_UNIT_FILL_GRADIENT_ANGLE" val="315"/>
  <p:tag name="KSO_WM_UNIT_FILL_GRADIENT_Direction" val="5"/>
  <p:tag name="KSO_WM_UNIT_FILL_TYPE" val="3"/>
  <p:tag name="KSO_WM_UNIT_SHADOW_SCHEMECOLOR_INDEX_BRIGHTNESS" val="0.35"/>
  <p:tag name="KSO_WM_UNIT_SHADOW_SCHEMECOLOR_INDEX" val="13"/>
  <p:tag name="KSO_WM_UNIT_TEXT_FILL_FORE_SCHEMECOLOR_INDEX_BRIGHTNESS" val="0.25"/>
  <p:tag name="KSO_WM_UNIT_TEXT_FILL_FORE_SCHEMECOLOR_INDEX" val="13"/>
  <p:tag name="KSO_WM_UNIT_TEXT_FILL_TYPE" val="1"/>
</p:tagLst>
</file>

<file path=ppt/tags/tag14.xml><?xml version="1.0" encoding="utf-8"?>
<p:tagLst xmlns:p="http://schemas.openxmlformats.org/presentationml/2006/main">
  <p:tag name="KSO_WM_UNIT_TEXT_FILL_FORE_SCHEMECOLOR_INDEX_BRIGHTNESS" val="0.35"/>
  <p:tag name="KSO_WM_UNIT_TEXT_FILL_FORE_SCHEMECOLOR_INDEX" val="13"/>
  <p:tag name="KSO_WM_UNIT_TEXT_FILL_TYPE" val="1"/>
  <p:tag name="KSO_WM_BEAUTIFY_FLAG" val=""/>
</p:tagLst>
</file>

<file path=ppt/tags/tag15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7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"/>
  <p:tag name="KSO_WM_UNIT_FILL_FORE_SCHEMECOLOR_INDEX_2_BRIGHTNESS" val="-0.05"/>
  <p:tag name="KSO_WM_UNIT_FILL_FORE_SCHEMECOLOR_INDEX_2" val="14"/>
  <p:tag name="KSO_WM_UNIT_FILL_FORE_SCHEMECOLOR_INDEX_2_POS" val="0.55"/>
  <p:tag name="KSO_WM_UNIT_FILL_FORE_SCHEMECOLOR_INDEX_2_TRANS" val="0"/>
  <p:tag name="KSO_WM_UNIT_FILL_FORE_SCHEMECOLOR_INDEX_3_BRIGHTNESS" val="-0.35"/>
  <p:tag name="KSO_WM_UNIT_FILL_FORE_SCHEMECOLOR_INDEX_3" val="14"/>
  <p:tag name="KSO_WM_UNIT_FILL_FORE_SCHEMECOLOR_INDEX_3_POS" val="1"/>
  <p:tag name="KSO_WM_UNIT_FILL_FORE_SCHEMECOLOR_INDEX_3_TRANS" val="0"/>
  <p:tag name="KSO_WM_UNIT_FILL_GRADIENT_TYPE" val="0"/>
  <p:tag name="KSO_WM_UNIT_FILL_GRADIENT_ANGLE" val="135"/>
  <p:tag name="KSO_WM_UNIT_FILL_GRADIENT_Direction" val="2"/>
  <p:tag name="KSO_WM_UNIT_FILL_TYPE" val="3"/>
  <p:tag name="KSO_WM_UNIT_SHADOW_SCHEMECOLOR_INDEX_BRIGHTNESS" val="0.35"/>
  <p:tag name="KSO_WM_UNIT_SHADOW_SCHEMECOLOR_INDEX" val="13"/>
  <p:tag name="KSO_WM_UNIT_TEXT_FILL_FORE_SCHEMECOLOR_INDEX_BRIGHTNESS" val="0.25"/>
  <p:tag name="KSO_WM_UNIT_TEXT_FILL_FORE_SCHEMECOLOR_INDEX" val="13"/>
  <p:tag name="KSO_WM_UNIT_TEXT_FILL_TYPE" val="1"/>
</p:tagLst>
</file>

<file path=ppt/tags/tag18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"/>
  <p:tag name="KSO_WM_UNIT_FILL_FORE_SCHEMECOLOR_INDEX_2_BRIGHTNESS" val="-0.05"/>
  <p:tag name="KSO_WM_UNIT_FILL_FORE_SCHEMECOLOR_INDEX_2" val="14"/>
  <p:tag name="KSO_WM_UNIT_FILL_FORE_SCHEMECOLOR_INDEX_2_POS" val="0.51"/>
  <p:tag name="KSO_WM_UNIT_FILL_FORE_SCHEMECOLOR_INDEX_2_TRANS" val="0"/>
  <p:tag name="KSO_WM_UNIT_FILL_FORE_SCHEMECOLOR_INDEX_3_BRIGHTNESS" val="-0.25"/>
  <p:tag name="KSO_WM_UNIT_FILL_FORE_SCHEMECOLOR_INDEX_3" val="14"/>
  <p:tag name="KSO_WM_UNIT_FILL_FORE_SCHEMECOLOR_INDEX_3_POS" val="1"/>
  <p:tag name="KSO_WM_UNIT_FILL_FORE_SCHEMECOLOR_INDEX_3_TRANS" val="0"/>
  <p:tag name="KSO_WM_UNIT_FILL_GRADIENT_TYPE" val="0"/>
  <p:tag name="KSO_WM_UNIT_FILL_GRADIENT_ANGLE" val="315"/>
  <p:tag name="KSO_WM_UNIT_FILL_GRADIENT_Direction" val="5"/>
  <p:tag name="KSO_WM_UNIT_FILL_TYPE" val="3"/>
  <p:tag name="KSO_WM_UNIT_SHADOW_SCHEMECOLOR_INDEX_BRIGHTNESS" val="0.35"/>
  <p:tag name="KSO_WM_UNIT_SHADOW_SCHEMECOLOR_INDEX" val="13"/>
  <p:tag name="KSO_WM_UNIT_TEXT_FILL_FORE_SCHEMECOLOR_INDEX_BRIGHTNESS" val="0.25"/>
  <p:tag name="KSO_WM_UNIT_TEXT_FILL_FORE_SCHEMECOLOR_INDEX" val="13"/>
  <p:tag name="KSO_WM_UNIT_TEXT_FILL_TYPE" val="1"/>
</p:tagLst>
</file>

<file path=ppt/tags/tag19.xml><?xml version="1.0" encoding="utf-8"?>
<p:tagLst xmlns:p="http://schemas.openxmlformats.org/presentationml/2006/main">
  <p:tag name="KSO_WM_UNIT_TEXT_FILL_FORE_SCHEMECOLOR_INDEX_BRIGHTNESS" val="0.35"/>
  <p:tag name="KSO_WM_UNIT_TEXT_FILL_FORE_SCHEMECOLOR_INDEX" val="13"/>
  <p:tag name="KSO_WM_UNIT_TEXT_FILL_TYPE" val="1"/>
  <p:tag name="KSO_WM_BEAUTIFY_FLAG" val=""/>
</p:tagLst>
</file>

<file path=ppt/tags/tag20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2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"/>
  <p:tag name="KSO_WM_UNIT_FILL_FORE_SCHEMECOLOR_INDEX_2_BRIGHTNESS" val="-0.05"/>
  <p:tag name="KSO_WM_UNIT_FILL_FORE_SCHEMECOLOR_INDEX_2" val="14"/>
  <p:tag name="KSO_WM_UNIT_FILL_FORE_SCHEMECOLOR_INDEX_2_POS" val="0.55"/>
  <p:tag name="KSO_WM_UNIT_FILL_FORE_SCHEMECOLOR_INDEX_2_TRANS" val="0"/>
  <p:tag name="KSO_WM_UNIT_FILL_FORE_SCHEMECOLOR_INDEX_3_BRIGHTNESS" val="-0.35"/>
  <p:tag name="KSO_WM_UNIT_FILL_FORE_SCHEMECOLOR_INDEX_3" val="14"/>
  <p:tag name="KSO_WM_UNIT_FILL_FORE_SCHEMECOLOR_INDEX_3_POS" val="1"/>
  <p:tag name="KSO_WM_UNIT_FILL_FORE_SCHEMECOLOR_INDEX_3_TRANS" val="0"/>
  <p:tag name="KSO_WM_UNIT_FILL_GRADIENT_TYPE" val="0"/>
  <p:tag name="KSO_WM_UNIT_FILL_GRADIENT_ANGLE" val="135"/>
  <p:tag name="KSO_WM_UNIT_FILL_GRADIENT_Direction" val="2"/>
  <p:tag name="KSO_WM_UNIT_FILL_TYPE" val="3"/>
  <p:tag name="KSO_WM_UNIT_SHADOW_SCHEMECOLOR_INDEX_BRIGHTNESS" val="0.35"/>
  <p:tag name="KSO_WM_UNIT_SHADOW_SCHEMECOLOR_INDEX" val="13"/>
  <p:tag name="KSO_WM_UNIT_TEXT_FILL_FORE_SCHEMECOLOR_INDEX_BRIGHTNESS" val="0.25"/>
  <p:tag name="KSO_WM_UNIT_TEXT_FILL_FORE_SCHEMECOLOR_INDEX" val="13"/>
  <p:tag name="KSO_WM_UNIT_TEXT_FILL_TYPE" val="1"/>
</p:tagLst>
</file>

<file path=ppt/tags/tag23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"/>
  <p:tag name="KSO_WM_UNIT_FILL_FORE_SCHEMECOLOR_INDEX_2_BRIGHTNESS" val="-0.05"/>
  <p:tag name="KSO_WM_UNIT_FILL_FORE_SCHEMECOLOR_INDEX_2" val="14"/>
  <p:tag name="KSO_WM_UNIT_FILL_FORE_SCHEMECOLOR_INDEX_2_POS" val="0.51"/>
  <p:tag name="KSO_WM_UNIT_FILL_FORE_SCHEMECOLOR_INDEX_2_TRANS" val="0"/>
  <p:tag name="KSO_WM_UNIT_FILL_FORE_SCHEMECOLOR_INDEX_3_BRIGHTNESS" val="-0.25"/>
  <p:tag name="KSO_WM_UNIT_FILL_FORE_SCHEMECOLOR_INDEX_3" val="14"/>
  <p:tag name="KSO_WM_UNIT_FILL_FORE_SCHEMECOLOR_INDEX_3_POS" val="1"/>
  <p:tag name="KSO_WM_UNIT_FILL_FORE_SCHEMECOLOR_INDEX_3_TRANS" val="0"/>
  <p:tag name="KSO_WM_UNIT_FILL_GRADIENT_TYPE" val="0"/>
  <p:tag name="KSO_WM_UNIT_FILL_GRADIENT_ANGLE" val="315"/>
  <p:tag name="KSO_WM_UNIT_FILL_GRADIENT_Direction" val="5"/>
  <p:tag name="KSO_WM_UNIT_FILL_TYPE" val="3"/>
  <p:tag name="KSO_WM_UNIT_SHADOW_SCHEMECOLOR_INDEX_BRIGHTNESS" val="0.35"/>
  <p:tag name="KSO_WM_UNIT_SHADOW_SCHEMECOLOR_INDEX" val="13"/>
  <p:tag name="KSO_WM_UNIT_TEXT_FILL_FORE_SCHEMECOLOR_INDEX_BRIGHTNESS" val="0.25"/>
  <p:tag name="KSO_WM_UNIT_TEXT_FILL_FORE_SCHEMECOLOR_INDEX" val="13"/>
  <p:tag name="KSO_WM_UNIT_TEXT_FILL_TYPE" val="1"/>
</p:tagLst>
</file>

<file path=ppt/tags/tag24.xml><?xml version="1.0" encoding="utf-8"?>
<p:tagLst xmlns:p="http://schemas.openxmlformats.org/presentationml/2006/main">
  <p:tag name="KSO_WM_UNIT_TEXT_FILL_FORE_SCHEMECOLOR_INDEX_BRIGHTNESS" val="0.35"/>
  <p:tag name="KSO_WM_UNIT_TEXT_FILL_FORE_SCHEMECOLOR_INDEX" val="13"/>
  <p:tag name="KSO_WM_UNIT_TEXT_FILL_TYPE" val="1"/>
  <p:tag name="KSO_WM_BEAUTIFY_FLAG" val=""/>
</p:tagLst>
</file>

<file path=ppt/tags/tag2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6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"/>
  <p:tag name="KSO_WM_UNIT_FILL_FORE_SCHEMECOLOR_INDEX_2_BRIGHTNESS" val="-0.05"/>
  <p:tag name="KSO_WM_UNIT_FILL_FORE_SCHEMECOLOR_INDEX_2" val="14"/>
  <p:tag name="KSO_WM_UNIT_FILL_FORE_SCHEMECOLOR_INDEX_2_POS" val="0.55"/>
  <p:tag name="KSO_WM_UNIT_FILL_FORE_SCHEMECOLOR_INDEX_2_TRANS" val="0"/>
  <p:tag name="KSO_WM_UNIT_FILL_FORE_SCHEMECOLOR_INDEX_3_BRIGHTNESS" val="-0.35"/>
  <p:tag name="KSO_WM_UNIT_FILL_FORE_SCHEMECOLOR_INDEX_3" val="14"/>
  <p:tag name="KSO_WM_UNIT_FILL_FORE_SCHEMECOLOR_INDEX_3_POS" val="1"/>
  <p:tag name="KSO_WM_UNIT_FILL_FORE_SCHEMECOLOR_INDEX_3_TRANS" val="0"/>
  <p:tag name="KSO_WM_UNIT_FILL_GRADIENT_TYPE" val="0"/>
  <p:tag name="KSO_WM_UNIT_FILL_GRADIENT_ANGLE" val="135"/>
  <p:tag name="KSO_WM_UNIT_FILL_GRADIENT_Direction" val="2"/>
  <p:tag name="KSO_WM_UNIT_FILL_TYPE" val="3"/>
  <p:tag name="KSO_WM_UNIT_SHADOW_SCHEMECOLOR_INDEX_BRIGHTNESS" val="0.35"/>
  <p:tag name="KSO_WM_UNIT_SHADOW_SCHEMECOLOR_INDEX" val="13"/>
  <p:tag name="KSO_WM_UNIT_TEXT_FILL_FORE_SCHEMECOLOR_INDEX_BRIGHTNESS" val="0.25"/>
  <p:tag name="KSO_WM_UNIT_TEXT_FILL_FORE_SCHEMECOLOR_INDEX" val="13"/>
  <p:tag name="KSO_WM_UNIT_TEXT_FILL_TYPE" val="1"/>
</p:tagLst>
</file>

<file path=ppt/tags/tag27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"/>
  <p:tag name="KSO_WM_UNIT_FILL_FORE_SCHEMECOLOR_INDEX_2_BRIGHTNESS" val="-0.05"/>
  <p:tag name="KSO_WM_UNIT_FILL_FORE_SCHEMECOLOR_INDEX_2" val="14"/>
  <p:tag name="KSO_WM_UNIT_FILL_FORE_SCHEMECOLOR_INDEX_2_POS" val="0.51"/>
  <p:tag name="KSO_WM_UNIT_FILL_FORE_SCHEMECOLOR_INDEX_2_TRANS" val="0"/>
  <p:tag name="KSO_WM_UNIT_FILL_FORE_SCHEMECOLOR_INDEX_3_BRIGHTNESS" val="-0.25"/>
  <p:tag name="KSO_WM_UNIT_FILL_FORE_SCHEMECOLOR_INDEX_3" val="14"/>
  <p:tag name="KSO_WM_UNIT_FILL_FORE_SCHEMECOLOR_INDEX_3_POS" val="1"/>
  <p:tag name="KSO_WM_UNIT_FILL_FORE_SCHEMECOLOR_INDEX_3_TRANS" val="0"/>
  <p:tag name="KSO_WM_UNIT_FILL_GRADIENT_TYPE" val="0"/>
  <p:tag name="KSO_WM_UNIT_FILL_GRADIENT_ANGLE" val="315"/>
  <p:tag name="KSO_WM_UNIT_FILL_GRADIENT_Direction" val="5"/>
  <p:tag name="KSO_WM_UNIT_FILL_TYPE" val="3"/>
  <p:tag name="KSO_WM_UNIT_SHADOW_SCHEMECOLOR_INDEX_BRIGHTNESS" val="0.35"/>
  <p:tag name="KSO_WM_UNIT_SHADOW_SCHEMECOLOR_INDEX" val="13"/>
  <p:tag name="KSO_WM_UNIT_TEXT_FILL_FORE_SCHEMECOLOR_INDEX_BRIGHTNESS" val="0.25"/>
  <p:tag name="KSO_WM_UNIT_TEXT_FILL_FORE_SCHEMECOLOR_INDEX" val="13"/>
  <p:tag name="KSO_WM_UNIT_TEXT_FILL_TYPE" val="1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3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3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3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3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3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3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36.xml><?xml version="1.0" encoding="utf-8"?>
<p:tagLst xmlns:p="http://schemas.openxmlformats.org/presentationml/2006/main">
  <p:tag name="KSO_WPP_MARK_KEY" val="a6b9b259-307c-4eb8-98ab-eca5e655f3a2"/>
  <p:tag name="COMMONDATA" val="eyJoZGlkIjoiMzEwNTM5NzYwMDRjMzkwZTVkZjY2ODkwMGIxNGU0OTUifQ==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第一PPT，www.1ppt.com​">
  <a:themeElements>
    <a:clrScheme name="">
      <a:dk1>
        <a:srgbClr val="5A0610"/>
      </a:dk1>
      <a:lt1>
        <a:srgbClr val="FFFFFF"/>
      </a:lt1>
      <a:dk2>
        <a:srgbClr val="970B1C"/>
      </a:dk2>
      <a:lt2>
        <a:srgbClr val="970B1C"/>
      </a:lt2>
      <a:accent1>
        <a:srgbClr val="C00000"/>
      </a:accent1>
      <a:accent2>
        <a:srgbClr val="970B1C"/>
      </a:accent2>
      <a:accent3>
        <a:srgbClr val="5A0610"/>
      </a:accent3>
      <a:accent4>
        <a:srgbClr val="920D14"/>
      </a:accent4>
      <a:accent5>
        <a:srgbClr val="5A0610"/>
      </a:accent5>
      <a:accent6>
        <a:srgbClr val="920D14"/>
      </a:accent6>
      <a:hlink>
        <a:srgbClr val="0563C1"/>
      </a:hlink>
      <a:folHlink>
        <a:srgbClr val="954F72"/>
      </a:folHlink>
    </a:clrScheme>
    <a:fontScheme name="rs2evova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1160</Words>
  <Application>WPS 演示</Application>
  <PresentationFormat>自定义</PresentationFormat>
  <Paragraphs>79</Paragraphs>
  <Slides>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宋体</vt:lpstr>
      <vt:lpstr>Wingdings</vt:lpstr>
      <vt:lpstr>方正姚体</vt:lpstr>
      <vt:lpstr>微软雅黑</vt:lpstr>
      <vt:lpstr>Arial Unicode MS</vt:lpstr>
      <vt:lpstr>等线</vt:lpstr>
      <vt:lpstr>Calibri</vt:lpstr>
      <vt:lpstr>自定义设计方案</vt:lpstr>
      <vt:lpstr>2_第一PPT，www.1ppt.com​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  <Manager>第一PPT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商业分析报告</dc:title>
  <dc:creator>第一PPT</dc:creator>
  <cp:keywords>www.1ppt.com</cp:keywords>
  <dc:description>www.1ppt.com</dc:description>
  <cp:lastModifiedBy>夜看流星1411732807</cp:lastModifiedBy>
  <cp:revision>727</cp:revision>
  <dcterms:created xsi:type="dcterms:W3CDTF">2022-05-05T01:54:00Z</dcterms:created>
  <dcterms:modified xsi:type="dcterms:W3CDTF">2024-01-04T12:18:01Z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mmondata">
    <vt:lpwstr>eyJoZGlkIjoiNDA0ODg2Yjk0MDA3ZGUzMDkzY2NlMmQwNDBkOGJmYTEifQ==</vt:lpwstr>
  </property>
  <property fmtid="{D5CDD505-2E9C-101B-9397-08002B2CF9AE}" pid="3" name="ICV">
    <vt:lpwstr>F34431891DEC4AE4BF317F1FD61193DA</vt:lpwstr>
  </property>
  <property fmtid="{D5CDD505-2E9C-101B-9397-08002B2CF9AE}" pid="4" name="KSOProductBuildVer">
    <vt:lpwstr>2052-12.1.0.16120</vt:lpwstr>
  </property>
</Properties>
</file>